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304" r:id="rId5"/>
    <p:sldId id="305" r:id="rId6"/>
    <p:sldId id="350" r:id="rId7"/>
    <p:sldId id="301" r:id="rId8"/>
    <p:sldId id="302" r:id="rId9"/>
    <p:sldId id="298" r:id="rId10"/>
    <p:sldId id="359" r:id="rId11"/>
    <p:sldId id="299" r:id="rId12"/>
    <p:sldId id="352" r:id="rId13"/>
    <p:sldId id="355" r:id="rId14"/>
    <p:sldId id="357" r:id="rId15"/>
    <p:sldId id="358" r:id="rId16"/>
    <p:sldId id="360" r:id="rId17"/>
    <p:sldId id="361" r:id="rId18"/>
    <p:sldId id="362" r:id="rId19"/>
    <p:sldId id="363" r:id="rId20"/>
    <p:sldId id="364" r:id="rId21"/>
    <p:sldId id="376" r:id="rId22"/>
    <p:sldId id="370" r:id="rId23"/>
    <p:sldId id="367" r:id="rId24"/>
    <p:sldId id="380" r:id="rId25"/>
    <p:sldId id="381" r:id="rId26"/>
    <p:sldId id="258" r:id="rId27"/>
  </p:sldIdLst>
  <p:sldSz cx="9144000" cy="5143500"/>
  <p:notesSz cx="6858000" cy="9144000"/>
  <p:embeddedFontLst>
    <p:embeddedFont>
      <p:font typeface="Roboto Slab"/>
      <p:regular r:id="rId31"/>
    </p:embeddedFont>
    <p:embeddedFont>
      <p:font typeface="Source Sans Pro" panose="020B0503030403020204"/>
      <p:regular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font" Target="fonts/font2.fntdata"/><Relationship Id="rId31" Type="http://schemas.openxmlformats.org/officeDocument/2006/relationships/font" Target="fonts/font1.fntdata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5f391192_00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5f391192_0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5ed75ccf_015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5ed75ccf_0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5ed75ccf_015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5ed75ccf_0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f391192_04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5f391192_0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">
  <p:cSld name="TITL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700185" y="1991850"/>
            <a:ext cx="58074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1pPr>
            <a:lvl2pPr lvl="1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2pPr>
            <a:lvl3pPr lvl="2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3pPr>
            <a:lvl4pPr lvl="3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4pPr>
            <a:lvl5pPr lvl="4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5pPr>
            <a:lvl6pPr lvl="5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6pPr>
            <a:lvl7pPr lvl="6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7pPr>
            <a:lvl8pPr lvl="7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8pPr>
            <a:lvl9pPr lvl="8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7337531" y="4630074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" name="Google Shape;12;p2"/>
          <p:cNvSpPr/>
          <p:nvPr/>
        </p:nvSpPr>
        <p:spPr>
          <a:xfrm>
            <a:off x="7790243" y="4182401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" name="Google Shape;13;p2"/>
          <p:cNvSpPr/>
          <p:nvPr/>
        </p:nvSpPr>
        <p:spPr>
          <a:xfrm>
            <a:off x="8893253" y="3333348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" name="Google Shape;14;p2"/>
          <p:cNvSpPr/>
          <p:nvPr/>
        </p:nvSpPr>
        <p:spPr>
          <a:xfrm>
            <a:off x="8771302" y="4923775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" name="Google Shape;15;p2"/>
          <p:cNvSpPr/>
          <p:nvPr/>
        </p:nvSpPr>
        <p:spPr>
          <a:xfrm>
            <a:off x="2386266" y="508134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" name="Google Shape;16;p2"/>
          <p:cNvSpPr/>
          <p:nvPr/>
        </p:nvSpPr>
        <p:spPr>
          <a:xfrm>
            <a:off x="479460" y="2703980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" name="Google Shape;17;p2"/>
          <p:cNvSpPr/>
          <p:nvPr/>
        </p:nvSpPr>
        <p:spPr>
          <a:xfrm>
            <a:off x="261540" y="643097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" name="Google Shape;18;p2"/>
          <p:cNvSpPr/>
          <p:nvPr/>
        </p:nvSpPr>
        <p:spPr>
          <a:xfrm>
            <a:off x="507235" y="1080863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" name="Google Shape;19;p2"/>
          <p:cNvSpPr/>
          <p:nvPr/>
        </p:nvSpPr>
        <p:spPr>
          <a:xfrm>
            <a:off x="8314019" y="3625322"/>
            <a:ext cx="144300" cy="1440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" name="Google Shape;20;p2"/>
          <p:cNvSpPr/>
          <p:nvPr/>
        </p:nvSpPr>
        <p:spPr>
          <a:xfrm>
            <a:off x="8882858" y="4186761"/>
            <a:ext cx="144300" cy="1440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" name="Google Shape;21;p2"/>
          <p:cNvSpPr/>
          <p:nvPr/>
        </p:nvSpPr>
        <p:spPr>
          <a:xfrm>
            <a:off x="158313" y="1596559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" name="Google Shape;22;p2"/>
          <p:cNvSpPr/>
          <p:nvPr/>
        </p:nvSpPr>
        <p:spPr>
          <a:xfrm>
            <a:off x="1396483" y="226428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" name="Google Shape;23;p2"/>
          <p:cNvSpPr/>
          <p:nvPr/>
        </p:nvSpPr>
        <p:spPr>
          <a:xfrm>
            <a:off x="617492" y="2000594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" name="Google Shape;24;p2"/>
          <p:cNvSpPr/>
          <p:nvPr/>
        </p:nvSpPr>
        <p:spPr>
          <a:xfrm>
            <a:off x="3425273" y="387880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" name="Google Shape;25;p2"/>
          <p:cNvSpPr/>
          <p:nvPr/>
        </p:nvSpPr>
        <p:spPr>
          <a:xfrm>
            <a:off x="8014029" y="4567546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/>
          <p:nvPr>
            <p:ph type="ctrTitle"/>
          </p:nvPr>
        </p:nvSpPr>
        <p:spPr>
          <a:xfrm>
            <a:off x="1546025" y="1754794"/>
            <a:ext cx="58326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9pPr>
          </a:lstStyle>
          <a:p/>
        </p:txBody>
      </p:sp>
      <p:sp>
        <p:nvSpPr>
          <p:cNvPr id="28" name="Google Shape;28;p3"/>
          <p:cNvSpPr txBox="1"/>
          <p:nvPr>
            <p:ph type="subTitle" idx="1"/>
          </p:nvPr>
        </p:nvSpPr>
        <p:spPr>
          <a:xfrm>
            <a:off x="1546025" y="3011511"/>
            <a:ext cx="58326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4"/>
          <p:cNvPicPr preferRelativeResize="0"/>
          <p:nvPr/>
        </p:nvPicPr>
        <p:blipFill rotWithShape="1">
          <a:blip r:embed="rId2"/>
          <a:srcRect l="19" r="19"/>
          <a:stretch>
            <a:fillRect/>
          </a:stretch>
        </p:blipFill>
        <p:spPr>
          <a:xfrm rot="10800000" flipH="1">
            <a:off x="5952" y="0"/>
            <a:ext cx="91406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 txBox="1"/>
          <p:nvPr>
            <p:ph type="body" idx="1"/>
          </p:nvPr>
        </p:nvSpPr>
        <p:spPr>
          <a:xfrm>
            <a:off x="1215300" y="1723650"/>
            <a:ext cx="6713400" cy="81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57200" algn="ctr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600"/>
              <a:buChar char="◎"/>
              <a:defRPr sz="3600" i="1"/>
            </a:lvl1pPr>
            <a:lvl2pPr marL="914400" lvl="1" indent="-4572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○"/>
              <a:defRPr sz="3600" i="1"/>
            </a:lvl2pPr>
            <a:lvl3pPr marL="1371600" lvl="2" indent="-4572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◉"/>
              <a:defRPr sz="3600" i="1"/>
            </a:lvl3pPr>
            <a:lvl4pPr marL="1828800" lvl="3" indent="-457200" algn="ctr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 i="1"/>
            </a:lvl4pPr>
            <a:lvl5pPr marL="2286000" lvl="4" indent="-457200" algn="ctr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 i="1"/>
            </a:lvl5pPr>
            <a:lvl6pPr marL="2743200" lvl="5" indent="-457200" algn="ctr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 i="1"/>
            </a:lvl6pPr>
            <a:lvl7pPr marL="3200400" lvl="6" indent="-457200" algn="ctr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 i="1"/>
            </a:lvl7pPr>
            <a:lvl8pPr marL="3657600" lvl="7" indent="-457200" algn="ctr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 i="1"/>
            </a:lvl8pPr>
            <a:lvl9pPr marL="4114800" lvl="8" indent="-457200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 i="1"/>
            </a:lvl9pPr>
          </a:lstStyle>
          <a:p/>
        </p:txBody>
      </p:sp>
      <p:grpSp>
        <p:nvGrpSpPr>
          <p:cNvPr id="32" name="Google Shape;32;p4"/>
          <p:cNvGrpSpPr/>
          <p:nvPr/>
        </p:nvGrpSpPr>
        <p:grpSpPr>
          <a:xfrm>
            <a:off x="3839646" y="782918"/>
            <a:ext cx="1464573" cy="842707"/>
            <a:chOff x="3593400" y="1729675"/>
            <a:chExt cx="1957200" cy="1123610"/>
          </a:xfrm>
        </p:grpSpPr>
        <p:sp>
          <p:nvSpPr>
            <p:cNvPr id="33" name="Google Shape;33;p4"/>
            <p:cNvSpPr txBox="1"/>
            <p:nvPr/>
          </p:nvSpPr>
          <p:spPr>
            <a:xfrm>
              <a:off x="3593400" y="1729675"/>
              <a:ext cx="1957200" cy="8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6000" b="1">
                  <a:solidFill>
                    <a:schemeClr val="accent1"/>
                  </a:solidFill>
                  <a:latin typeface="Source Sans Pro" panose="020B0503030403020204"/>
                  <a:ea typeface="Source Sans Pro" panose="020B0503030403020204"/>
                  <a:cs typeface="Source Sans Pro" panose="020B0503030403020204"/>
                  <a:sym typeface="Source Sans Pro" panose="020B0503030403020204"/>
                </a:rPr>
                <a:t>“</a:t>
              </a:r>
              <a:endParaRPr sz="6000" b="1">
                <a:solidFill>
                  <a:schemeClr val="accent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4025400" y="1760085"/>
              <a:ext cx="1093200" cy="1093200"/>
            </a:xfrm>
            <a:prstGeom prst="ellipse">
              <a:avLst/>
            </a:prstGeom>
            <a:noFill/>
            <a:ln w="9525" cap="flat" cmpd="sng">
              <a:solidFill>
                <a:srgbClr val="CFD8DC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4190700" y="1925385"/>
              <a:ext cx="762600" cy="762600"/>
            </a:xfrm>
            <a:prstGeom prst="ellipse">
              <a:avLst/>
            </a:prstGeom>
            <a:noFill/>
            <a:ln w="19050" cap="flat" cmpd="sng">
              <a:solidFill>
                <a:srgbClr val="CFD8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36" name="Google Shape;36;p4"/>
          <p:cNvCxnSpPr>
            <a:endCxn id="34" idx="1"/>
          </p:cNvCxnSpPr>
          <p:nvPr/>
        </p:nvCxnSpPr>
        <p:spPr>
          <a:xfrm>
            <a:off x="3750511" y="390297"/>
            <a:ext cx="532200" cy="5355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" name="Google Shape;37;p4"/>
          <p:cNvCxnSpPr/>
          <p:nvPr/>
        </p:nvCxnSpPr>
        <p:spPr>
          <a:xfrm rot="10800000">
            <a:off x="4362902" y="436125"/>
            <a:ext cx="209100" cy="3696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" name="Google Shape;38;p4"/>
          <p:cNvCxnSpPr/>
          <p:nvPr/>
        </p:nvCxnSpPr>
        <p:spPr>
          <a:xfrm rot="10800000" flipH="1">
            <a:off x="4704510" y="351930"/>
            <a:ext cx="347100" cy="4746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" name="Google Shape;39;p4"/>
          <p:cNvSpPr txBox="1"/>
          <p:nvPr>
            <p:ph type="sldNum" idx="12"/>
          </p:nvPr>
        </p:nvSpPr>
        <p:spPr>
          <a:xfrm>
            <a:off x="-87" y="4749844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+ 1 column">
  <p:cSld name="TITLE_AND_BOD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body" idx="1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◎"/>
              <a:defRPr sz="2400"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◉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43" name="Google Shape;43;p5"/>
          <p:cNvSpPr txBox="1"/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+ 2 columns">
  <p:cSld name="TITLE_AND_TWO_COLUMN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type="body" idx="1"/>
          </p:nvPr>
        </p:nvSpPr>
        <p:spPr>
          <a:xfrm>
            <a:off x="786137" y="1200150"/>
            <a:ext cx="36753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◎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◉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47" name="Google Shape;47;p6"/>
          <p:cNvSpPr txBox="1"/>
          <p:nvPr>
            <p:ph type="body" idx="2"/>
          </p:nvPr>
        </p:nvSpPr>
        <p:spPr>
          <a:xfrm>
            <a:off x="4682659" y="1200150"/>
            <a:ext cx="36753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◎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◉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48" name="Google Shape;48;p6"/>
          <p:cNvSpPr txBox="1"/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type="body" idx="1"/>
          </p:nvPr>
        </p:nvSpPr>
        <p:spPr>
          <a:xfrm>
            <a:off x="786150" y="1200150"/>
            <a:ext cx="24198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type="body" idx="2"/>
          </p:nvPr>
        </p:nvSpPr>
        <p:spPr>
          <a:xfrm>
            <a:off x="3329992" y="1200150"/>
            <a:ext cx="24198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type="body" idx="3"/>
          </p:nvPr>
        </p:nvSpPr>
        <p:spPr>
          <a:xfrm>
            <a:off x="5873834" y="1200150"/>
            <a:ext cx="24198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body" idx="1"/>
          </p:nvPr>
        </p:nvSpPr>
        <p:spPr>
          <a:xfrm>
            <a:off x="457200" y="4055343"/>
            <a:ext cx="8229600" cy="36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ctr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-92" y="4749844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complete pattern">
  <p:cSld name="BLANK_1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/>
          <p:nvPr/>
        </p:nvSpPr>
        <p:spPr>
          <a:xfrm>
            <a:off x="-26550" y="-14850"/>
            <a:ext cx="9197100" cy="5173200"/>
          </a:xfrm>
          <a:prstGeom prst="rect">
            <a:avLst/>
          </a:prstGeom>
          <a:solidFill>
            <a:srgbClr val="CFD8DC">
              <a:alpha val="49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5" name="Google Shape;65;p11"/>
          <p:cNvSpPr txBox="1"/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/>
          <a:stretch>
            <a:fillRect/>
          </a:stretch>
        </a:blip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 panose="020B0503030403020204"/>
              <a:buChar char="◎"/>
              <a:defRPr sz="3000">
                <a:solidFill>
                  <a:schemeClr val="dk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 panose="020B0503030403020204"/>
              <a:buChar char="○"/>
              <a:defRPr sz="2400">
                <a:solidFill>
                  <a:schemeClr val="dk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 panose="020B0503030403020204"/>
              <a:buChar char="◉"/>
              <a:defRPr sz="2400">
                <a:solidFill>
                  <a:schemeClr val="dk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 panose="020B0503030403020204"/>
              <a:buChar char="●"/>
              <a:defRPr sz="1800">
                <a:solidFill>
                  <a:schemeClr val="dk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 panose="020B0503030403020204"/>
              <a:buChar char="○"/>
              <a:defRPr sz="1800">
                <a:solidFill>
                  <a:schemeClr val="dk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 panose="020B0503030403020204"/>
              <a:buChar char="■"/>
              <a:defRPr sz="1800">
                <a:solidFill>
                  <a:schemeClr val="dk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 panose="020B0503030403020204"/>
              <a:buChar char="●"/>
              <a:defRPr sz="1800">
                <a:solidFill>
                  <a:schemeClr val="dk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 panose="020B0503030403020204"/>
              <a:buChar char="○"/>
              <a:defRPr sz="1800">
                <a:solidFill>
                  <a:schemeClr val="dk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 panose="020B0503030403020204"/>
              <a:buChar char="■"/>
              <a:defRPr sz="1800">
                <a:solidFill>
                  <a:schemeClr val="dk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 b="1">
                <a:solidFill>
                  <a:schemeClr val="accent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1pPr>
            <a:lvl2pPr lvl="1" algn="r">
              <a:buNone/>
              <a:defRPr sz="1300" b="1">
                <a:solidFill>
                  <a:schemeClr val="accent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2pPr>
            <a:lvl3pPr lvl="2" algn="r">
              <a:buNone/>
              <a:defRPr sz="1300" b="1">
                <a:solidFill>
                  <a:schemeClr val="accent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3pPr>
            <a:lvl4pPr lvl="3" algn="r">
              <a:buNone/>
              <a:defRPr sz="1300" b="1">
                <a:solidFill>
                  <a:schemeClr val="accent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4pPr>
            <a:lvl5pPr lvl="4" algn="r">
              <a:buNone/>
              <a:defRPr sz="1300" b="1">
                <a:solidFill>
                  <a:schemeClr val="accent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5pPr>
            <a:lvl6pPr lvl="5" algn="r">
              <a:buNone/>
              <a:defRPr sz="1300" b="1">
                <a:solidFill>
                  <a:schemeClr val="accent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6pPr>
            <a:lvl7pPr lvl="6" algn="r">
              <a:buNone/>
              <a:defRPr sz="1300" b="1">
                <a:solidFill>
                  <a:schemeClr val="accent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7pPr>
            <a:lvl8pPr lvl="7" algn="r">
              <a:buNone/>
              <a:defRPr sz="1300" b="1">
                <a:solidFill>
                  <a:schemeClr val="accent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8pPr>
            <a:lvl9pPr lvl="8" algn="r">
              <a:buNone/>
              <a:defRPr sz="1300" b="1">
                <a:solidFill>
                  <a:schemeClr val="accent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l="20992" r="1772"/>
          <a:stretch>
            <a:fillRect/>
          </a:stretch>
        </p:blipFill>
        <p:spPr>
          <a:xfrm>
            <a:off x="-635" y="-138430"/>
            <a:ext cx="9397365" cy="5321300"/>
          </a:xfrm>
          <a:prstGeom prst="rect">
            <a:avLst/>
          </a:prstGeom>
        </p:spPr>
      </p:pic>
      <p:sp>
        <p:nvSpPr>
          <p:cNvPr id="70" name="Google Shape;70;p12"/>
          <p:cNvSpPr txBox="1"/>
          <p:nvPr>
            <p:ph type="ctrTitle"/>
          </p:nvPr>
        </p:nvSpPr>
        <p:spPr>
          <a:xfrm>
            <a:off x="1421765" y="1991995"/>
            <a:ext cx="6300470" cy="11595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0">
                <a:solidFill>
                  <a:schemeClr val="bg1"/>
                </a:solidFill>
                <a:latin typeface="Yuanti SC" panose="02010600040101010101" charset="-122"/>
                <a:ea typeface="Yuanti SC" panose="02010600040101010101" charset="-122"/>
                <a:cs typeface="Yuanti SC" panose="02010600040101010101" charset="-122"/>
              </a:rPr>
              <a:t>HDR &amp; </a:t>
            </a:r>
            <a:r>
              <a:rPr lang="zh-CN" altLang="en-US" b="0">
                <a:solidFill>
                  <a:schemeClr val="bg1"/>
                </a:solidFill>
                <a:latin typeface="Yuanti SC" panose="02010600040101010101" charset="-122"/>
                <a:ea typeface="Yuanti SC" panose="02010600040101010101" charset="-122"/>
                <a:cs typeface="Yuanti SC" panose="02010600040101010101" charset="-122"/>
              </a:rPr>
              <a:t>色调映射</a:t>
            </a:r>
            <a:br>
              <a:rPr lang="zh-CN" altLang="en-US" b="0">
                <a:solidFill>
                  <a:schemeClr val="bg1"/>
                </a:solidFill>
                <a:latin typeface="Yuanti SC" panose="02010600040101010101" charset="-122"/>
                <a:ea typeface="Yuanti SC" panose="02010600040101010101" charset="-122"/>
                <a:cs typeface="Yuanti SC" panose="02010600040101010101" charset="-122"/>
              </a:rPr>
            </a:br>
            <a:r>
              <a:rPr lang="zh-CN" altLang="en-US" sz="2000" b="0">
                <a:solidFill>
                  <a:schemeClr val="bg1"/>
                </a:solidFill>
                <a:latin typeface="Yuanti SC" panose="02010600040101010101" charset="-122"/>
                <a:ea typeface="Yuanti SC" panose="02010600040101010101" charset="-122"/>
                <a:cs typeface="Yuanti SC" panose="02010600040101010101" charset="-122"/>
              </a:rPr>
              <a:t>演讲者：肖智予</a:t>
            </a:r>
            <a:br>
              <a:rPr lang="zh-CN" altLang="en-US" sz="4800" b="0">
                <a:solidFill>
                  <a:schemeClr val="bg1"/>
                </a:solidFill>
                <a:latin typeface="Yuanti SC" panose="02010600040101010101" charset="-122"/>
                <a:ea typeface="Yuanti SC" panose="02010600040101010101" charset="-122"/>
                <a:cs typeface="Yuanti SC" panose="02010600040101010101" charset="-122"/>
              </a:rPr>
            </a:br>
            <a:endParaRPr lang="zh-CN" altLang="en-US" sz="4800" b="0">
              <a:solidFill>
                <a:schemeClr val="bg1"/>
              </a:solidFill>
              <a:latin typeface="Yuanti SC" panose="02010600040101010101" charset="-122"/>
              <a:ea typeface="Yuanti SC" panose="02010600040101010101" charset="-122"/>
              <a:cs typeface="Yuanti SC" panose="02010600040101010101" charset="-122"/>
            </a:endParaRPr>
          </a:p>
        </p:txBody>
      </p:sp>
    </p:spTree>
    <p:custDataLst>
      <p:tags r:id="rId2"/>
    </p:custDataLst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/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副标题 3"/>
          <p:cNvSpPr/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idx="4294967295"/>
          </p:nvPr>
        </p:nvSpPr>
        <p:spPr>
          <a:xfrm>
            <a:off x="8595360" y="4749800"/>
            <a:ext cx="548640" cy="393700"/>
          </a:xfrm>
        </p:spPr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5405" y="0"/>
            <a:ext cx="9209405" cy="5216525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/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副标题 3"/>
          <p:cNvSpPr/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idx="4294967295"/>
          </p:nvPr>
        </p:nvSpPr>
        <p:spPr>
          <a:xfrm>
            <a:off x="8595360" y="4749800"/>
            <a:ext cx="548640" cy="393700"/>
          </a:xfrm>
        </p:spPr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03505"/>
            <a:ext cx="9291955" cy="5289550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315" y="2851150"/>
            <a:ext cx="2739390" cy="15595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400" y="1352550"/>
            <a:ext cx="5398135" cy="3058160"/>
          </a:xfrm>
          <a:prstGeom prst="rect">
            <a:avLst/>
          </a:prstGeom>
        </p:spPr>
      </p:pic>
      <p:sp>
        <p:nvSpPr>
          <p:cNvPr id="11" name="标题 10"/>
          <p:cNvSpPr/>
          <p:nvPr>
            <p:ph type="title"/>
          </p:nvPr>
        </p:nvSpPr>
        <p:spPr>
          <a:xfrm>
            <a:off x="824230" y="1352550"/>
            <a:ext cx="2492375" cy="677545"/>
          </a:xfrm>
        </p:spPr>
        <p:txBody>
          <a:bodyPr/>
          <a:p>
            <a:r>
              <a:rPr lang="zh-CN" altLang="en-US">
                <a:solidFill>
                  <a:schemeClr val="accent1"/>
                </a:solidFill>
                <a:latin typeface="Yuanti SC Regular" panose="02010600040101010101" charset="-122"/>
                <a:ea typeface="Yuanti SC Regular" panose="02010600040101010101" charset="-122"/>
              </a:rPr>
              <a:t>如何把这样一样</a:t>
            </a:r>
            <a:r>
              <a:rPr lang="en-US" altLang="zh-CN">
                <a:solidFill>
                  <a:schemeClr val="accent1"/>
                </a:solidFill>
                <a:latin typeface="Yuanti SC Regular" panose="02010600040101010101" charset="-122"/>
                <a:ea typeface="Yuanti SC Regular" panose="02010600040101010101" charset="-122"/>
              </a:rPr>
              <a:t>LDR</a:t>
            </a:r>
            <a:r>
              <a:rPr lang="zh-CN" altLang="en-US">
                <a:solidFill>
                  <a:schemeClr val="accent1"/>
                </a:solidFill>
                <a:latin typeface="Yuanti SC Regular" panose="02010600040101010101" charset="-122"/>
                <a:ea typeface="Yuanti SC Regular" panose="02010600040101010101" charset="-122"/>
              </a:rPr>
              <a:t>图变成</a:t>
            </a:r>
            <a:r>
              <a:rPr lang="en-US" altLang="zh-CN">
                <a:solidFill>
                  <a:schemeClr val="accent1"/>
                </a:solidFill>
                <a:latin typeface="Yuanti SC Regular" panose="02010600040101010101" charset="-122"/>
                <a:ea typeface="Yuanti SC Regular" panose="02010600040101010101" charset="-122"/>
              </a:rPr>
              <a:t>HDR</a:t>
            </a:r>
            <a:r>
              <a:rPr lang="zh-CN" altLang="en-US">
                <a:solidFill>
                  <a:schemeClr val="accent1"/>
                </a:solidFill>
                <a:latin typeface="Yuanti SC Regular" panose="02010600040101010101" charset="-122"/>
                <a:ea typeface="Yuanti SC Regular" panose="02010600040101010101" charset="-122"/>
              </a:rPr>
              <a:t>图呢？</a:t>
            </a:r>
            <a:endParaRPr lang="zh-CN" altLang="en-US">
              <a:solidFill>
                <a:schemeClr val="accent1"/>
              </a:solidFill>
              <a:latin typeface="Yuanti SC Regular" panose="02010600040101010101" charset="-122"/>
              <a:ea typeface="Yuanti SC Regular" panose="02010600040101010101" charset="-122"/>
            </a:endParaRPr>
          </a:p>
        </p:txBody>
      </p:sp>
      <p:sp>
        <p:nvSpPr>
          <p:cNvPr id="12" name="右箭头 11"/>
          <p:cNvSpPr/>
          <p:nvPr/>
        </p:nvSpPr>
        <p:spPr>
          <a:xfrm>
            <a:off x="2299970" y="2169795"/>
            <a:ext cx="927735" cy="406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/>
          <p:nvPr>
            <p:ph type="title"/>
          </p:nvPr>
        </p:nvSpPr>
        <p:spPr/>
        <p:txBody>
          <a:bodyPr/>
          <a:p>
            <a:r>
              <a:rPr lang="zh-CN" altLang="en-US" sz="2400">
                <a:solidFill>
                  <a:schemeClr val="accent1"/>
                </a:solidFill>
                <a:latin typeface="Yuanti SC Regular" panose="02010600040101010101" charset="-122"/>
                <a:ea typeface="Yuanti SC Regular" panose="02010600040101010101" charset="-122"/>
              </a:rPr>
              <a:t>第一个挑战：场景中的亮度变化范围广</a:t>
            </a:r>
            <a:endParaRPr lang="zh-CN" altLang="en-US" sz="2400">
              <a:solidFill>
                <a:schemeClr val="accent1"/>
              </a:solidFill>
              <a:latin typeface="Yuanti SC Regular" panose="02010600040101010101" charset="-122"/>
              <a:ea typeface="Yuanti SC Regular" panose="0201060004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365" y="1451610"/>
            <a:ext cx="5791835" cy="12192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8660" y="3372485"/>
            <a:ext cx="2288540" cy="1026795"/>
          </a:xfrm>
          <a:prstGeom prst="rect">
            <a:avLst/>
          </a:prstGeom>
        </p:spPr>
      </p:pic>
      <p:sp>
        <p:nvSpPr>
          <p:cNvPr id="8" name="标题 2"/>
          <p:cNvSpPr/>
          <p:nvPr/>
        </p:nvSpPr>
        <p:spPr>
          <a:xfrm>
            <a:off x="6665595" y="1568450"/>
            <a:ext cx="2287270" cy="67564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zh-CN" altLang="en-US" sz="1600">
                <a:solidFill>
                  <a:schemeClr val="tx1"/>
                </a:solidFill>
                <a:latin typeface="Yuanti SC Regular" panose="02010600040101010101" charset="-122"/>
                <a:ea typeface="Yuanti SC Regular" panose="02010600040101010101" charset="-122"/>
              </a:rPr>
              <a:t>真实世界亮度变化范围</a:t>
            </a:r>
            <a:endParaRPr lang="zh-CN" altLang="en-US" sz="1600">
              <a:solidFill>
                <a:schemeClr val="tx1"/>
              </a:solidFill>
              <a:latin typeface="Yuanti SC Regular" panose="02010600040101010101" charset="-122"/>
              <a:ea typeface="Yuanti SC Regular" panose="02010600040101010101" charset="-122"/>
            </a:endParaRPr>
          </a:p>
        </p:txBody>
      </p:sp>
      <p:sp>
        <p:nvSpPr>
          <p:cNvPr id="9" name="标题 2"/>
          <p:cNvSpPr/>
          <p:nvPr/>
        </p:nvSpPr>
        <p:spPr>
          <a:xfrm>
            <a:off x="6807200" y="3372485"/>
            <a:ext cx="2287270" cy="67564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zh-CN" altLang="en-US" sz="1600">
                <a:solidFill>
                  <a:schemeClr val="tx1"/>
                </a:solidFill>
                <a:latin typeface="Yuanti SC Regular" panose="02010600040101010101" charset="-122"/>
                <a:ea typeface="Yuanti SC Regular" panose="02010600040101010101" charset="-122"/>
              </a:rPr>
              <a:t>相机能感知范围</a:t>
            </a:r>
            <a:endParaRPr lang="zh-CN" altLang="en-US" sz="1600">
              <a:solidFill>
                <a:schemeClr val="tx1"/>
              </a:solidFill>
              <a:latin typeface="Yuanti SC Regular" panose="02010600040101010101" charset="-122"/>
              <a:ea typeface="Yuanti SC Regular" panose="02010600040101010101" charset="-122"/>
            </a:endParaRPr>
          </a:p>
        </p:txBody>
      </p:sp>
      <p:sp>
        <p:nvSpPr>
          <p:cNvPr id="10" name="标题 2"/>
          <p:cNvSpPr/>
          <p:nvPr/>
        </p:nvSpPr>
        <p:spPr>
          <a:xfrm>
            <a:off x="1148715" y="3547745"/>
            <a:ext cx="2287270" cy="67564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zh-CN" altLang="en-US" sz="3200">
                <a:solidFill>
                  <a:schemeClr val="accent1"/>
                </a:solidFill>
                <a:latin typeface="Yuanti SC Regular" panose="02010600040101010101" charset="-122"/>
                <a:ea typeface="Yuanti SC Regular" panose="02010600040101010101" charset="-122"/>
              </a:rPr>
              <a:t>差异太大！</a:t>
            </a:r>
            <a:endParaRPr lang="zh-CN" altLang="en-US" sz="3200">
              <a:solidFill>
                <a:schemeClr val="accent1"/>
              </a:solidFill>
              <a:latin typeface="Yuanti SC Regular" panose="02010600040101010101" charset="-122"/>
              <a:ea typeface="Yuanti SC Regular" panose="02010600040101010101" charset="-122"/>
            </a:endParaRPr>
          </a:p>
          <a:p>
            <a:r>
              <a:rPr lang="zh-CN" altLang="en-US" sz="3200">
                <a:solidFill>
                  <a:schemeClr val="accent1"/>
                </a:solidFill>
                <a:latin typeface="Yuanti SC Regular" panose="02010600040101010101" charset="-122"/>
                <a:ea typeface="Yuanti SC Regular" panose="02010600040101010101" charset="-122"/>
              </a:rPr>
              <a:t>如何解决？</a:t>
            </a:r>
            <a:endParaRPr lang="zh-CN" altLang="en-US" sz="3200">
              <a:solidFill>
                <a:schemeClr val="accent1"/>
              </a:solidFill>
              <a:latin typeface="Yuanti SC Regular" panose="02010600040101010101" charset="-122"/>
              <a:ea typeface="Yuanti SC Regular" panose="02010600040101010101" charset="-122"/>
            </a:endParaRPr>
          </a:p>
        </p:txBody>
      </p:sp>
    </p:spTree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/>
          <p:nvPr>
            <p:ph type="title"/>
          </p:nvPr>
        </p:nvSpPr>
        <p:spPr/>
        <p:txBody>
          <a:bodyPr/>
          <a:p>
            <a:r>
              <a:rPr lang="zh-CN" altLang="en-US" sz="2400">
                <a:solidFill>
                  <a:schemeClr val="accent1"/>
                </a:solidFill>
                <a:latin typeface="Yuanti SC Regular" panose="02010600040101010101" charset="-122"/>
                <a:ea typeface="Yuanti SC Regular" panose="02010600040101010101" charset="-122"/>
              </a:rPr>
              <a:t>第二个挑战：显示设备上无法完全展现图片的亮度范围</a:t>
            </a:r>
            <a:endParaRPr lang="zh-CN" altLang="en-US" sz="2400">
              <a:solidFill>
                <a:schemeClr val="accent1"/>
              </a:solidFill>
              <a:latin typeface="Yuanti SC Regular" panose="02010600040101010101" charset="-122"/>
              <a:ea typeface="Yuanti SC Regular" panose="0201060004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715" y="1098550"/>
            <a:ext cx="8623935" cy="2946400"/>
          </a:xfrm>
          <a:prstGeom prst="rect">
            <a:avLst/>
          </a:prstGeom>
        </p:spPr>
      </p:pic>
      <p:sp>
        <p:nvSpPr>
          <p:cNvPr id="10" name="标题 2"/>
          <p:cNvSpPr/>
          <p:nvPr/>
        </p:nvSpPr>
        <p:spPr>
          <a:xfrm>
            <a:off x="786130" y="3663950"/>
            <a:ext cx="2809240" cy="67564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zh-CN" altLang="en-US" sz="2400">
                <a:solidFill>
                  <a:schemeClr val="accent1"/>
                </a:solidFill>
                <a:latin typeface="Yuanti SC Regular" panose="02010600040101010101" charset="-122"/>
                <a:ea typeface="Yuanti SC Regular" panose="02010600040101010101" charset="-122"/>
              </a:rPr>
              <a:t>如何合理映射？</a:t>
            </a:r>
            <a:endParaRPr lang="zh-CN" altLang="en-US" sz="2400">
              <a:solidFill>
                <a:schemeClr val="accent1"/>
              </a:solidFill>
              <a:latin typeface="Yuanti SC Regular" panose="02010600040101010101" charset="-122"/>
              <a:ea typeface="Yuanti SC Regular" panose="02010600040101010101" charset="-122"/>
            </a:endParaRPr>
          </a:p>
        </p:txBody>
      </p:sp>
    </p:spTree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/>
          <p:nvPr>
            <p:ph type="title"/>
          </p:nvPr>
        </p:nvSpPr>
        <p:spPr/>
        <p:txBody>
          <a:bodyPr/>
          <a:p>
            <a:r>
              <a:rPr lang="zh-CN" altLang="en-US" sz="24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如何解决？</a:t>
            </a:r>
            <a:endParaRPr lang="zh-CN" altLang="en-US" sz="2400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</p:txBody>
      </p:sp>
      <p:sp>
        <p:nvSpPr>
          <p:cNvPr id="4" name="文本占位符 3"/>
          <p:cNvSpPr/>
          <p:nvPr>
            <p:ph type="body" idx="1"/>
          </p:nvPr>
        </p:nvSpPr>
        <p:spPr>
          <a:xfrm>
            <a:off x="628650" y="1417955"/>
            <a:ext cx="1319530" cy="1002030"/>
          </a:xfrm>
        </p:spPr>
        <p:txBody>
          <a:bodyPr/>
          <a:p>
            <a:pPr marL="101600" indent="0">
              <a:buNone/>
            </a:pPr>
            <a:r>
              <a:rPr lang="en-US" altLang="zh-CN" sz="1400">
                <a:latin typeface="Yuanti SC Regular" panose="02010600040101010101" charset="-122"/>
                <a:ea typeface="Yuanti SC Regular" panose="02010600040101010101" charset="-122"/>
              </a:rPr>
              <a:t>多次曝光</a:t>
            </a:r>
            <a:r>
              <a:rPr lang="zh-CN" altLang="en-US" sz="1400">
                <a:latin typeface="Yuanti SC Regular" panose="02010600040101010101" charset="-122"/>
                <a:ea typeface="Yuanti SC Regular" panose="02010600040101010101" charset="-122"/>
              </a:rPr>
              <a:t>生成</a:t>
            </a:r>
            <a:r>
              <a:rPr lang="en-US" altLang="zh-CN" sz="1400">
                <a:latin typeface="Yuanti SC Regular" panose="02010600040101010101" charset="-122"/>
                <a:ea typeface="Yuanti SC Regular" panose="02010600040101010101" charset="-122"/>
              </a:rPr>
              <a:t>HDR高动态范围像</a:t>
            </a:r>
            <a:endParaRPr lang="en-US" altLang="zh-CN" sz="1400">
              <a:latin typeface="Yuanti SC Regular" panose="02010600040101010101" charset="-122"/>
              <a:ea typeface="Yuanti SC Regular" panose="02010600040101010101" charset="-122"/>
            </a:endParaRPr>
          </a:p>
          <a:p>
            <a:pPr marL="101600" indent="0">
              <a:buNone/>
            </a:pPr>
            <a:endParaRPr lang="en-US" altLang="zh-CN" sz="1400">
              <a:latin typeface="Yuanti SC Regular" panose="02010600040101010101" charset="-122"/>
              <a:ea typeface="Yuanti SC Regular" panose="02010600040101010101" charset="-122"/>
            </a:endParaRPr>
          </a:p>
        </p:txBody>
      </p:sp>
      <p:sp>
        <p:nvSpPr>
          <p:cNvPr id="5" name="文本占位符 4"/>
          <p:cNvSpPr/>
          <p:nvPr>
            <p:ph type="body" idx="2"/>
          </p:nvPr>
        </p:nvSpPr>
        <p:spPr>
          <a:xfrm>
            <a:off x="4653915" y="2381885"/>
            <a:ext cx="1504315" cy="461645"/>
          </a:xfrm>
        </p:spPr>
        <p:txBody>
          <a:bodyPr/>
          <a:p>
            <a:pPr marL="101600" indent="0">
              <a:buNone/>
            </a:pPr>
            <a:r>
              <a:rPr lang="zh-CN" altLang="en-US" sz="1400">
                <a:solidFill>
                  <a:schemeClr val="accent1"/>
                </a:solidFill>
                <a:latin typeface="Yuanti SC Regular" panose="02010600040101010101" charset="-122"/>
                <a:ea typeface="Yuanti SC Regular" panose="02010600040101010101" charset="-122"/>
              </a:rPr>
              <a:t>色调映射</a:t>
            </a:r>
            <a:endParaRPr lang="zh-CN" altLang="en-US" sz="1400">
              <a:solidFill>
                <a:schemeClr val="accent1"/>
              </a:solidFill>
              <a:latin typeface="Yuanti SC Regular" panose="02010600040101010101" charset="-122"/>
              <a:ea typeface="Yuanti SC Regular" panose="0201060004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5660" y="1116330"/>
            <a:ext cx="6600825" cy="130365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r="1336"/>
          <a:stretch>
            <a:fillRect/>
          </a:stretch>
        </p:blipFill>
        <p:spPr>
          <a:xfrm>
            <a:off x="2647950" y="2848610"/>
            <a:ext cx="4620895" cy="1994535"/>
          </a:xfrm>
          <a:prstGeom prst="rect">
            <a:avLst/>
          </a:prstGeom>
        </p:spPr>
      </p:pic>
      <p:sp>
        <p:nvSpPr>
          <p:cNvPr id="9" name="下箭头 8"/>
          <p:cNvSpPr/>
          <p:nvPr/>
        </p:nvSpPr>
        <p:spPr>
          <a:xfrm>
            <a:off x="4464050" y="2491740"/>
            <a:ext cx="215900" cy="28765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占位符 3"/>
          <p:cNvSpPr/>
          <p:nvPr/>
        </p:nvSpPr>
        <p:spPr>
          <a:xfrm>
            <a:off x="629285" y="3153410"/>
            <a:ext cx="1476375" cy="100203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 panose="020B0503030403020204"/>
              <a:buChar char="◎"/>
              <a:defRPr sz="2000" b="0" i="0" u="none" strike="noStrike" cap="none">
                <a:solidFill>
                  <a:schemeClr val="dk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 panose="020B0503030403020204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 panose="020B0503030403020204"/>
              <a:buChar char="◉"/>
              <a:defRPr sz="2000" b="0" i="0" u="none" strike="noStrike" cap="none">
                <a:solidFill>
                  <a:schemeClr val="dk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 panose="020B0503030403020204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 panose="020B0503030403020204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 panose="020B0503030403020204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 panose="020B0503030403020204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 panose="020B0503030403020204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 panose="020B0503030403020204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9pPr>
          </a:lstStyle>
          <a:p>
            <a:pPr marL="101600" indent="0">
              <a:buNone/>
            </a:pPr>
            <a:r>
              <a:rPr lang="zh-CN" altLang="en-US" sz="1400">
                <a:latin typeface="Yuanti SC Regular" panose="02010600040101010101" charset="-122"/>
                <a:ea typeface="Yuanti SC Regular" panose="02010600040101010101" charset="-122"/>
              </a:rPr>
              <a:t>利用</a:t>
            </a:r>
            <a:r>
              <a:rPr lang="en-US" altLang="zh-CN" sz="1400">
                <a:latin typeface="Yuanti SC Regular" panose="02010600040101010101" charset="-122"/>
                <a:ea typeface="Yuanti SC Regular" panose="02010600040101010101" charset="-122"/>
              </a:rPr>
              <a:t>HDR</a:t>
            </a:r>
            <a:r>
              <a:rPr lang="zh-CN" altLang="en-US" sz="1400">
                <a:latin typeface="Yuanti SC Regular" panose="02010600040101010101" charset="-122"/>
                <a:ea typeface="Yuanti SC Regular" panose="02010600040101010101" charset="-122"/>
              </a:rPr>
              <a:t>图片信息，进行合理的色调映射，使得显示设备能够正确显示</a:t>
            </a:r>
            <a:endParaRPr lang="zh-CN" altLang="en-US" sz="1400">
              <a:latin typeface="Yuanti SC Regular" panose="02010600040101010101" charset="-122"/>
              <a:ea typeface="Yuanti SC Regular" panose="02010600040101010101" charset="-122"/>
            </a:endParaRPr>
          </a:p>
        </p:txBody>
      </p:sp>
    </p:spTree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/>
          <p:nvPr/>
        </p:nvSpPr>
        <p:spPr>
          <a:xfrm>
            <a:off x="5725650" y="909615"/>
            <a:ext cx="1875600" cy="1852800"/>
          </a:xfrm>
          <a:prstGeom prst="ellipse">
            <a:avLst/>
          </a:prstGeom>
          <a:noFill/>
          <a:ln w="9525" cap="flat" cmpd="sng">
            <a:solidFill>
              <a:srgbClr val="CFD8DC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18"/>
          <p:cNvSpPr txBox="1"/>
          <p:nvPr>
            <p:ph type="ctrTitle" idx="4294967295"/>
          </p:nvPr>
        </p:nvSpPr>
        <p:spPr>
          <a:xfrm>
            <a:off x="533400" y="1252131"/>
            <a:ext cx="47796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60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步骤一：</a:t>
            </a:r>
            <a:r>
              <a:rPr lang="en-US" altLang="zh-CN" sz="60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HDR</a:t>
            </a:r>
            <a:endParaRPr lang="en-US" altLang="zh-CN" sz="6000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</p:txBody>
      </p:sp>
      <p:sp>
        <p:nvSpPr>
          <p:cNvPr id="119" name="Google Shape;119;p18"/>
          <p:cNvSpPr txBox="1"/>
          <p:nvPr>
            <p:ph type="subTitle" idx="4294967295"/>
          </p:nvPr>
        </p:nvSpPr>
        <p:spPr>
          <a:xfrm>
            <a:off x="533400" y="2394538"/>
            <a:ext cx="47796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zh-CN" altLang="en-US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一系列不同曝光的线性</a:t>
            </a:r>
            <a:r>
              <a:rPr lang="en-US" altLang="zh-CN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LDR</a:t>
            </a:r>
            <a:r>
              <a:rPr lang="zh-CN" altLang="en-US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图片的组合</a:t>
            </a:r>
            <a:endParaRPr lang="zh-CN" altLang="en-US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</p:txBody>
      </p:sp>
      <p:cxnSp>
        <p:nvCxnSpPr>
          <p:cNvPr id="120" name="Google Shape;120;p18"/>
          <p:cNvCxnSpPr/>
          <p:nvPr/>
        </p:nvCxnSpPr>
        <p:spPr>
          <a:xfrm rot="10800000" flipH="1">
            <a:off x="6805299" y="540952"/>
            <a:ext cx="143700" cy="3771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" name="Google Shape;121;p18"/>
          <p:cNvCxnSpPr/>
          <p:nvPr/>
        </p:nvCxnSpPr>
        <p:spPr>
          <a:xfrm flipH="1">
            <a:off x="7451750" y="1182125"/>
            <a:ext cx="337200" cy="1311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" name="Google Shape;122;p18"/>
          <p:cNvCxnSpPr>
            <a:endCxn id="117" idx="6"/>
          </p:cNvCxnSpPr>
          <p:nvPr/>
        </p:nvCxnSpPr>
        <p:spPr>
          <a:xfrm rot="10800000">
            <a:off x="7601250" y="1836015"/>
            <a:ext cx="998100" cy="981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3" name="Google Shape;123;p18"/>
          <p:cNvSpPr/>
          <p:nvPr/>
        </p:nvSpPr>
        <p:spPr>
          <a:xfrm>
            <a:off x="5875408" y="1057537"/>
            <a:ext cx="1576200" cy="1556700"/>
          </a:xfrm>
          <a:prstGeom prst="ellipse">
            <a:avLst/>
          </a:prstGeom>
          <a:noFill/>
          <a:ln w="19050" cap="flat" cmpd="sng">
            <a:solidFill>
              <a:srgbClr val="CFD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7" name="Google Shape;127;p18"/>
          <p:cNvSpPr txBox="1"/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" name="Google Shape;118;p18"/>
          <p:cNvSpPr txBox="1"/>
          <p:nvPr/>
        </p:nvSpPr>
        <p:spPr>
          <a:xfrm>
            <a:off x="5875655" y="1235075"/>
            <a:ext cx="1235075" cy="115951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01</a:t>
            </a:r>
            <a:endParaRPr lang="en-US" sz="6000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</p:txBody>
      </p:sp>
    </p:spTree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title"/>
          </p:nvPr>
        </p:nvSpPr>
        <p:spPr>
          <a:xfrm>
            <a:off x="786150" y="282720"/>
            <a:ext cx="7571700" cy="702600"/>
          </a:xfrm>
        </p:spPr>
        <p:txBody>
          <a:bodyPr/>
          <a:p>
            <a:r>
              <a:rPr lang="zh-CN" altLang="en-US" sz="2400">
                <a:latin typeface="Yuanti SC Regular" panose="02010600040101010101" charset="-122"/>
                <a:ea typeface="Yuanti SC Regular" panose="02010600040101010101" charset="-122"/>
              </a:rPr>
              <a:t>多重曝光摄影</a:t>
            </a:r>
            <a:endParaRPr lang="zh-CN" altLang="en-US" sz="2400">
              <a:latin typeface="Yuanti SC Regular" panose="02010600040101010101" charset="-122"/>
              <a:ea typeface="Yuanti SC Regular" panose="02010600040101010101" charset="-122"/>
            </a:endParaRPr>
          </a:p>
        </p:txBody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/>
          <p:nvPr>
            <p:ph type="body" idx="2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500" y="1200150"/>
            <a:ext cx="7785100" cy="3387725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/>
          <p:nvPr>
            <p:ph type="title"/>
          </p:nvPr>
        </p:nvSpPr>
        <p:spPr>
          <a:xfrm>
            <a:off x="786130" y="307975"/>
            <a:ext cx="7571740" cy="702945"/>
          </a:xfrm>
        </p:spPr>
        <p:txBody>
          <a:bodyPr/>
          <a:p>
            <a:r>
              <a:rPr lang="zh-CN" altLang="en-US" sz="24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组合获取</a:t>
            </a:r>
            <a:r>
              <a:rPr lang="en-US" altLang="zh-CN" sz="24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HDR</a:t>
            </a:r>
            <a:r>
              <a:rPr lang="zh-CN" altLang="en-US" sz="24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图片</a:t>
            </a:r>
            <a:endParaRPr lang="zh-CN" altLang="en-US" sz="2400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</p:txBody>
      </p:sp>
      <p:sp>
        <p:nvSpPr>
          <p:cNvPr id="4" name="文本占位符 3"/>
          <p:cNvSpPr/>
          <p:nvPr>
            <p:ph type="body" idx="1"/>
          </p:nvPr>
        </p:nvSpPr>
        <p:spPr/>
        <p:txBody>
          <a:bodyPr/>
          <a:p>
            <a:pPr marL="101600" indent="0">
              <a:buNone/>
            </a:pPr>
            <a:r>
              <a:rPr lang="zh-CN" altLang="en-US" sz="18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输入</a:t>
            </a:r>
            <a:endParaRPr lang="zh-CN" altLang="en-US" sz="1800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  <a:p>
            <a:r>
              <a:rPr lang="en-US" altLang="zh-CN" sz="18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N</a:t>
            </a:r>
            <a:r>
              <a:rPr lang="zh-CN" altLang="en-US" sz="18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张不同曝光的</a:t>
            </a:r>
            <a:r>
              <a:rPr lang="en-US" altLang="zh-CN" sz="18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LDR</a:t>
            </a:r>
            <a:r>
              <a:rPr lang="zh-CN" altLang="en-US" sz="18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图</a:t>
            </a:r>
            <a:endParaRPr lang="zh-CN" altLang="en-US" sz="1800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  <a:p>
            <a:r>
              <a:rPr lang="zh-CN" altLang="en-US" sz="18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图片是线性空间的</a:t>
            </a:r>
            <a:endParaRPr lang="zh-CN" altLang="en-US" sz="1800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  <a:p>
            <a:r>
              <a:rPr lang="zh-CN" altLang="en-US" sz="18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只有曝光不同</a:t>
            </a:r>
            <a:endParaRPr lang="zh-CN" altLang="en-US" sz="1800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</p:txBody>
      </p:sp>
      <p:sp>
        <p:nvSpPr>
          <p:cNvPr id="5" name="文本占位符 4"/>
          <p:cNvSpPr/>
          <p:nvPr>
            <p:ph type="body" idx="2"/>
          </p:nvPr>
        </p:nvSpPr>
        <p:spPr/>
        <p:txBody>
          <a:bodyPr/>
          <a:p>
            <a:pPr marL="101600" indent="0">
              <a:buNone/>
            </a:pPr>
            <a:r>
              <a:rPr lang="zh-CN" altLang="en-US" sz="18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输出</a:t>
            </a:r>
            <a:endParaRPr lang="zh-CN" altLang="en-US" sz="1800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  <a:p>
            <a:r>
              <a:rPr lang="zh-CN" altLang="en-US" sz="18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一张</a:t>
            </a:r>
            <a:r>
              <a:rPr lang="en-US" altLang="zh-CN" sz="18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HDR</a:t>
            </a:r>
            <a:r>
              <a:rPr lang="zh-CN" altLang="en-US" sz="18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图</a:t>
            </a:r>
            <a:endParaRPr lang="zh-CN" altLang="en-US" sz="1800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  <a:p>
            <a:r>
              <a:rPr lang="zh-CN" altLang="en-US" sz="18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数值可能大于</a:t>
            </a:r>
            <a:r>
              <a:rPr lang="en-US" altLang="zh-CN" sz="18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1.0</a:t>
            </a:r>
            <a:endParaRPr lang="en-US" altLang="zh-CN" sz="1800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7605" y="2839720"/>
            <a:ext cx="6584315" cy="1978660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rcRect t="52744"/>
          <a:stretch>
            <a:fillRect/>
          </a:stretch>
        </p:blipFill>
        <p:spPr>
          <a:xfrm>
            <a:off x="0" y="2449830"/>
            <a:ext cx="9144000" cy="2077720"/>
          </a:xfrm>
          <a:prstGeom prst="rect">
            <a:avLst/>
          </a:prstGeom>
        </p:spPr>
      </p:pic>
      <p:sp>
        <p:nvSpPr>
          <p:cNvPr id="14" name="标题 2"/>
          <p:cNvSpPr/>
          <p:nvPr/>
        </p:nvSpPr>
        <p:spPr>
          <a:xfrm>
            <a:off x="675005" y="932815"/>
            <a:ext cx="6964680" cy="140589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altLang="zh-CN">
                <a:solidFill>
                  <a:schemeClr val="tx1"/>
                </a:solidFill>
                <a:latin typeface="Yuanti SC Regular" panose="02010600040101010101" charset="-122"/>
                <a:ea typeface="Yuanti SC Regular" panose="02010600040101010101" charset="-122"/>
              </a:rPr>
              <a:t>ImageA</a:t>
            </a:r>
            <a:r>
              <a:rPr lang="zh-CN" altLang="en-US">
                <a:solidFill>
                  <a:schemeClr val="tx1"/>
                </a:solidFill>
                <a:latin typeface="Yuanti SC Regular" panose="02010600040101010101" charset="-122"/>
                <a:ea typeface="Yuanti SC Regular" panose="02010600040101010101" charset="-122"/>
              </a:rPr>
              <a:t>：快门速度 </a:t>
            </a:r>
            <a:r>
              <a:rPr lang="en-US" altLang="zh-CN">
                <a:solidFill>
                  <a:schemeClr val="tx1"/>
                </a:solidFill>
                <a:latin typeface="Yuanti SC Regular" panose="02010600040101010101" charset="-122"/>
                <a:ea typeface="Yuanti SC Regular" panose="02010600040101010101" charset="-122"/>
              </a:rPr>
              <a:t>1/30 s</a:t>
            </a:r>
            <a:endParaRPr lang="en-US" altLang="zh-CN">
              <a:solidFill>
                <a:schemeClr val="tx1"/>
              </a:solidFill>
              <a:latin typeface="Yuanti SC Regular" panose="02010600040101010101" charset="-122"/>
              <a:ea typeface="Yuanti SC Regular" panose="02010600040101010101" charset="-122"/>
            </a:endParaRPr>
          </a:p>
          <a:p>
            <a:r>
              <a:rPr lang="en-US" altLang="zh-CN">
                <a:solidFill>
                  <a:schemeClr val="tx1"/>
                </a:solidFill>
                <a:latin typeface="Yuanti SC Regular" panose="02010600040101010101" charset="-122"/>
                <a:ea typeface="Yuanti SC Regular" panose="02010600040101010101" charset="-122"/>
              </a:rPr>
              <a:t>ImageB: </a:t>
            </a:r>
            <a:r>
              <a:rPr lang="zh-CN" altLang="en-US">
                <a:solidFill>
                  <a:schemeClr val="tx1"/>
                </a:solidFill>
                <a:latin typeface="Yuanti SC Regular" panose="02010600040101010101" charset="-122"/>
                <a:ea typeface="Yuanti SC Regular" panose="02010600040101010101" charset="-122"/>
              </a:rPr>
              <a:t>快门速度 </a:t>
            </a:r>
            <a:r>
              <a:rPr lang="en-US" altLang="zh-CN">
                <a:solidFill>
                  <a:schemeClr val="tx1"/>
                </a:solidFill>
                <a:latin typeface="Yuanti SC Regular" panose="02010600040101010101" charset="-122"/>
                <a:ea typeface="Yuanti SC Regular" panose="02010600040101010101" charset="-122"/>
              </a:rPr>
              <a:t>1/120 s</a:t>
            </a:r>
            <a:endParaRPr lang="en-US" altLang="zh-CN">
              <a:solidFill>
                <a:schemeClr val="tx1"/>
              </a:solidFill>
              <a:latin typeface="Yuanti SC Regular" panose="02010600040101010101" charset="-122"/>
              <a:ea typeface="Yuanti SC Regular" panose="02010600040101010101" charset="-122"/>
            </a:endParaRPr>
          </a:p>
          <a:p>
            <a:r>
              <a:rPr lang="en-US" altLang="zh-CN">
                <a:solidFill>
                  <a:schemeClr val="tx1"/>
                </a:solidFill>
                <a:latin typeface="Yuanti SC Regular" panose="02010600040101010101" charset="-122"/>
                <a:ea typeface="Yuanti SC Regular" panose="02010600040101010101" charset="-122"/>
              </a:rPr>
              <a:t>ImageHDR = </a:t>
            </a:r>
            <a:r>
              <a:rPr lang="zh-CN" altLang="en-US">
                <a:solidFill>
                  <a:schemeClr val="tx1"/>
                </a:solidFill>
                <a:latin typeface="Yuanti SC Regular" panose="02010600040101010101" charset="-122"/>
                <a:ea typeface="Yuanti SC Regular" panose="02010600040101010101" charset="-122"/>
              </a:rPr>
              <a:t>平均</a:t>
            </a:r>
            <a:r>
              <a:rPr lang="en-US" altLang="zh-CN">
                <a:solidFill>
                  <a:schemeClr val="tx1"/>
                </a:solidFill>
                <a:latin typeface="Yuanti SC Regular" panose="02010600040101010101" charset="-122"/>
                <a:ea typeface="Yuanti SC Regular" panose="02010600040101010101" charset="-122"/>
              </a:rPr>
              <a:t>(4* ImageB + 1* ImageA) </a:t>
            </a:r>
            <a:endParaRPr lang="en-US" altLang="zh-CN">
              <a:solidFill>
                <a:schemeClr val="tx1"/>
              </a:solidFill>
              <a:latin typeface="Yuanti SC Regular" panose="02010600040101010101" charset="-122"/>
              <a:ea typeface="Yuanti SC Regular" panose="02010600040101010101" charset="-122"/>
            </a:endParaRPr>
          </a:p>
        </p:txBody>
      </p:sp>
      <p:sp>
        <p:nvSpPr>
          <p:cNvPr id="15" name="标题 3"/>
          <p:cNvSpPr/>
          <p:nvPr/>
        </p:nvSpPr>
        <p:spPr>
          <a:xfrm>
            <a:off x="675005" y="455930"/>
            <a:ext cx="7571740" cy="70294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zh-CN" altLang="en-US" sz="2400" b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一个简单的例子</a:t>
            </a:r>
            <a:endParaRPr lang="zh-CN" altLang="en-US" sz="2400" b="0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</p:txBody>
      </p:sp>
    </p:spTree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4" name="标题 3"/>
          <p:cNvSpPr/>
          <p:nvPr>
            <p:ph type="title"/>
          </p:nvPr>
        </p:nvSpPr>
        <p:spPr>
          <a:xfrm>
            <a:off x="629285" y="307340"/>
            <a:ext cx="7571740" cy="702945"/>
          </a:xfrm>
        </p:spPr>
        <p:txBody>
          <a:bodyPr/>
          <a:p>
            <a:r>
              <a:rPr lang="zh-CN" altLang="en-US" sz="24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通用</a:t>
            </a:r>
            <a:r>
              <a:rPr lang="en-US" altLang="zh-CN" sz="24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HDR</a:t>
            </a:r>
            <a:r>
              <a:rPr lang="zh-CN" altLang="en-US" sz="24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生成过程</a:t>
            </a:r>
            <a:endParaRPr lang="zh-CN" altLang="en-US" sz="2400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110" y="2113280"/>
            <a:ext cx="4438650" cy="2879725"/>
          </a:xfrm>
          <a:prstGeom prst="rect">
            <a:avLst/>
          </a:prstGeom>
        </p:spPr>
      </p:pic>
      <p:sp>
        <p:nvSpPr>
          <p:cNvPr id="6" name="标题 2"/>
          <p:cNvSpPr/>
          <p:nvPr/>
        </p:nvSpPr>
        <p:spPr>
          <a:xfrm>
            <a:off x="675005" y="922020"/>
            <a:ext cx="6964680" cy="140589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zh-CN" altLang="en-US" sz="1600">
                <a:solidFill>
                  <a:schemeClr val="tx1"/>
                </a:solidFill>
                <a:latin typeface="Yuanti SC Regular" panose="02010600040101010101" charset="-122"/>
                <a:ea typeface="Yuanti SC Regular" panose="02010600040101010101" charset="-122"/>
                <a:sym typeface="+mn-ea"/>
              </a:rPr>
              <a:t>对于太亮的像素，去掉（该区域往往过曝）</a:t>
            </a:r>
            <a:endParaRPr lang="zh-CN" altLang="en-US" sz="1600">
              <a:solidFill>
                <a:schemeClr val="tx1"/>
              </a:solidFill>
              <a:latin typeface="Yuanti SC Regular" panose="02010600040101010101" charset="-122"/>
              <a:ea typeface="Yuanti SC Regular" panose="02010600040101010101" charset="-122"/>
            </a:endParaRPr>
          </a:p>
          <a:p>
            <a:r>
              <a:rPr lang="zh-CN" altLang="en-US" sz="1600">
                <a:solidFill>
                  <a:schemeClr val="tx1"/>
                </a:solidFill>
                <a:latin typeface="Yuanti SC Regular" panose="02010600040101010101" charset="-122"/>
                <a:ea typeface="Yuanti SC Regular" panose="02010600040101010101" charset="-122"/>
                <a:sym typeface="+mn-ea"/>
              </a:rPr>
              <a:t>比如：</a:t>
            </a:r>
            <a:r>
              <a:rPr lang="en-US" altLang="zh-CN" sz="1600">
                <a:solidFill>
                  <a:schemeClr val="tx1"/>
                </a:solidFill>
                <a:latin typeface="Yuanti SC Regular" panose="02010600040101010101" charset="-122"/>
                <a:ea typeface="Yuanti SC Regular" panose="02010600040101010101" charset="-122"/>
                <a:sym typeface="+mn-ea"/>
              </a:rPr>
              <a:t>&gt; 0.99</a:t>
            </a:r>
            <a:endParaRPr lang="zh-CN" altLang="en-US" sz="1600">
              <a:solidFill>
                <a:schemeClr val="tx1"/>
              </a:solidFill>
              <a:latin typeface="Yuanti SC Regular" panose="02010600040101010101" charset="-122"/>
              <a:ea typeface="Yuanti SC Regular" panose="02010600040101010101" charset="-122"/>
            </a:endParaRPr>
          </a:p>
          <a:p>
            <a:r>
              <a:rPr lang="zh-CN" altLang="en-US" sz="1600">
                <a:solidFill>
                  <a:schemeClr val="tx1"/>
                </a:solidFill>
                <a:latin typeface="Yuanti SC Regular" panose="02010600040101010101" charset="-122"/>
                <a:ea typeface="Yuanti SC Regular" panose="02010600040101010101" charset="-122"/>
                <a:sym typeface="+mn-ea"/>
              </a:rPr>
              <a:t>对于太暗的像素，也去掉（该区域容易有噪点）</a:t>
            </a:r>
            <a:endParaRPr lang="zh-CN" altLang="en-US" sz="1600">
              <a:solidFill>
                <a:schemeClr val="tx1"/>
              </a:solidFill>
              <a:latin typeface="Yuanti SC Regular" panose="02010600040101010101" charset="-122"/>
              <a:ea typeface="Yuanti SC Regular" panose="02010600040101010101" charset="-122"/>
            </a:endParaRPr>
          </a:p>
          <a:p>
            <a:r>
              <a:rPr lang="zh-CN" altLang="en-US" sz="1600">
                <a:solidFill>
                  <a:schemeClr val="tx1"/>
                </a:solidFill>
                <a:latin typeface="Yuanti SC Regular" panose="02010600040101010101" charset="-122"/>
                <a:ea typeface="Yuanti SC Regular" panose="02010600040101010101" charset="-122"/>
                <a:sym typeface="+mn-ea"/>
              </a:rPr>
              <a:t>比如：</a:t>
            </a:r>
            <a:r>
              <a:rPr lang="en-US" altLang="zh-CN" sz="1600">
                <a:solidFill>
                  <a:schemeClr val="tx1"/>
                </a:solidFill>
                <a:latin typeface="Yuanti SC Regular" panose="02010600040101010101" charset="-122"/>
                <a:ea typeface="Yuanti SC Regular" panose="02010600040101010101" charset="-122"/>
                <a:sym typeface="+mn-ea"/>
              </a:rPr>
              <a:t>&lt; 0.002</a:t>
            </a:r>
            <a:endParaRPr lang="en-US" altLang="zh-CN" sz="1600">
              <a:solidFill>
                <a:schemeClr val="tx1"/>
              </a:solidFill>
              <a:latin typeface="Yuanti SC Regular" panose="02010600040101010101" charset="-122"/>
              <a:ea typeface="Yuanti SC Regular" panose="02010600040101010101" charset="-122"/>
              <a:sym typeface="+mn-ea"/>
            </a:endParaRPr>
          </a:p>
        </p:txBody>
      </p:sp>
      <p:sp>
        <p:nvSpPr>
          <p:cNvPr id="3" name="标题 2"/>
          <p:cNvSpPr/>
          <p:nvPr/>
        </p:nvSpPr>
        <p:spPr>
          <a:xfrm>
            <a:off x="5639435" y="2696845"/>
            <a:ext cx="2561590" cy="122618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 lang="zh-CN" altLang="en-US">
              <a:solidFill>
                <a:schemeClr val="bg2">
                  <a:lumMod val="75000"/>
                </a:schemeClr>
              </a:solidFill>
              <a:latin typeface="Yuanti SC Regular" panose="02010600040101010101" charset="-122"/>
              <a:ea typeface="Yuanti SC Regular" panose="0201060004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5338445" y="2418080"/>
                <a:ext cx="3049905" cy="1779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>
                    <a:latin typeface="Yuanti SC Regular" panose="02010600040101010101" charset="-122"/>
                    <a:ea typeface="Yuanti SC Regular" panose="02010600040101010101" charset="-122"/>
                    <a:cs typeface="Yuanti SC Regular" panose="02010600040101010101" charset="-122"/>
                  </a:rPr>
                  <a:t>我们可以建立一个权重表来记录某一点像素的值是否为有效值，比如有</a:t>
                </a:r>
                <a:r>
                  <a:rPr lang="en-US" altLang="zh-CN">
                    <a:latin typeface="Yuanti SC Regular" panose="02010600040101010101" charset="-122"/>
                    <a:ea typeface="Yuanti SC Regular" panose="02010600040101010101" charset="-122"/>
                    <a:cs typeface="Yuanti SC Regular" panose="02010600040101010101" charset="-122"/>
                  </a:rPr>
                  <a:t>n</a:t>
                </a:r>
                <a:r>
                  <a:rPr lang="zh-CN" altLang="en-US">
                    <a:latin typeface="Yuanti SC Regular" panose="02010600040101010101" charset="-122"/>
                    <a:ea typeface="Yuanti SC Regular" panose="02010600040101010101" charset="-122"/>
                    <a:cs typeface="Yuanti SC Regular" panose="02010600040101010101" charset="-122"/>
                  </a:rPr>
                  <a:t>张图，对于第</a:t>
                </a:r>
                <a:r>
                  <a:rPr lang="en-US" altLang="zh-CN">
                    <a:latin typeface="Yuanti SC Regular" panose="02010600040101010101" charset="-122"/>
                    <a:ea typeface="Yuanti SC Regular" panose="02010600040101010101" charset="-122"/>
                    <a:cs typeface="Yuanti SC Regular" panose="02010600040101010101" charset="-122"/>
                  </a:rPr>
                  <a:t>i</a:t>
                </a:r>
                <a:r>
                  <a:rPr lang="zh-CN" altLang="en-US">
                    <a:latin typeface="Yuanti SC Regular" panose="02010600040101010101" charset="-122"/>
                    <a:ea typeface="Yuanti SC Regular" panose="02010600040101010101" charset="-122"/>
                    <a:cs typeface="Yuanti SC Regular" panose="02010600040101010101" charset="-122"/>
                  </a:rPr>
                  <a:t>张图</a:t>
                </a:r>
                <a:r>
                  <a:rPr lang="en-US" altLang="zh-CN">
                    <a:latin typeface="Yuanti SC Regular" panose="02010600040101010101" charset="-122"/>
                    <a:ea typeface="Yuanti SC Regular" panose="02010600040101010101" charset="-122"/>
                    <a:cs typeface="Yuanti SC Regular" panose="02010600040101010101" charset="-122"/>
                  </a:rPr>
                  <a:t>(x,y)</a:t>
                </a:r>
                <a:r>
                  <a:rPr lang="zh-CN" altLang="en-US">
                    <a:latin typeface="Yuanti SC Regular" panose="02010600040101010101" charset="-122"/>
                    <a:ea typeface="Yuanti SC Regular" panose="02010600040101010101" charset="-122"/>
                    <a:cs typeface="Yuanti SC Regular" panose="02010600040101010101" charset="-122"/>
                  </a:rPr>
                  <a:t>位置的像素，如果其值是有效值的时候，我们可以记把其权重设为</a:t>
                </a:r>
                <a:r>
                  <a:rPr lang="en-US" altLang="zh-CN">
                    <a:latin typeface="Yuanti SC Regular" panose="02010600040101010101" charset="-122"/>
                    <a:ea typeface="Yuanti SC Regular" panose="02010600040101010101" charset="-122"/>
                    <a:cs typeface="Yuanti SC Regular" panose="02010600040101010101" charset="-122"/>
                  </a:rPr>
                  <a:t>1</a:t>
                </a:r>
                <a:r>
                  <a:rPr lang="zh-CN" altLang="en-US">
                    <a:latin typeface="Yuanti SC Regular" panose="02010600040101010101" charset="-122"/>
                    <a:ea typeface="Yuanti SC Regular" panose="02010600040101010101" charset="-122"/>
                    <a:cs typeface="Yuanti SC Regular" panose="02010600040101010101" charset="-122"/>
                  </a:rPr>
                  <a:t>，如下：</a:t>
                </a:r>
                <a:endParaRPr lang="zh-CN" altLang="en-US">
                  <a:latin typeface="Yuanti SC Regular" panose="02010600040101010101" charset="-122"/>
                  <a:ea typeface="Yuanti SC Regular" panose="02010600040101010101" charset="-122"/>
                  <a:cs typeface="Yuanti SC Regular" panose="02010600040101010101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>
                              <a:latin typeface="Cambria Math" charset="0"/>
                              <a:ea typeface="Yuanti SC Regular" panose="02010600040101010101" charset="-122"/>
                              <a:cs typeface="Cambria Math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charset="0"/>
                              <a:ea typeface="Yuanti SC Regular" panose="02010600040101010101" charset="-122"/>
                              <a:cs typeface="Cambria Math" charset="0"/>
                            </a:rPr>
                            <m:t>w</m:t>
                          </m:r>
                        </m:e>
                        <m:sub>
                          <m:r>
                            <a:rPr lang="en-US" altLang="zh-CN" sz="2000">
                              <a:latin typeface="Cambria Math" charset="0"/>
                              <a:ea typeface="宋体" charset="0"/>
                              <a:cs typeface="Cambria Math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charset="0"/>
                              <a:ea typeface="Yuanti SC Regular" panose="02010600040101010101" charset="-122"/>
                              <a:cs typeface="Cambria Math" charset="0"/>
                            </a:rPr>
                            <m:t>x</m:t>
                          </m:r>
                          <m:r>
                            <a:rPr lang="en-US" altLang="zh-CN" sz="2000">
                              <a:latin typeface="Cambria Math" charset="0"/>
                              <a:ea typeface="宋体" charset="0"/>
                              <a:cs typeface="Cambria Math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charset="0"/>
                              <a:ea typeface="Yuanti SC Regular" panose="02010600040101010101" charset="-122"/>
                              <a:cs typeface="Cambria Math" charset="0"/>
                            </a:rPr>
                            <m:t>y</m:t>
                          </m:r>
                          <m:r>
                            <a:rPr lang="en-US" altLang="zh-CN" sz="2000">
                              <a:latin typeface="Cambria Math" charset="0"/>
                              <a:ea typeface="宋体" charset="0"/>
                              <a:cs typeface="Cambria Math" charset="0"/>
                            </a:rPr>
                            <m:t>)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charset="0"/>
                              <a:ea typeface="Yuanti SC Regular" panose="02010600040101010101" charset="-122"/>
                              <a:cs typeface="Cambria Math" charset="0"/>
                            </a:rPr>
                            <m:t>i</m:t>
                          </m:r>
                        </m:sup>
                      </m:sSubSup>
                      <m:r>
                        <a:rPr lang="en-US" altLang="zh-CN" sz="2000">
                          <a:latin typeface="Cambria Math" charset="0"/>
                          <a:ea typeface="宋体" charset="0"/>
                          <a:cs typeface="Cambria Math" charset="0"/>
                        </a:rPr>
                        <m:t>= </m:t>
                      </m:r>
                      <m:r>
                        <a:rPr lang="en-US" altLang="zh-CN" sz="2000">
                          <a:latin typeface="Cambria Math" charset="0"/>
                          <a:ea typeface="宋体" charset="0"/>
                          <a:cs typeface="Cambria Math" charset="0"/>
                        </a:rPr>
                        <m:t>1</m:t>
                      </m:r>
                    </m:oMath>
                  </m:oMathPara>
                </a14:m>
                <a:endParaRPr lang="en-US" altLang="zh-CN" i="1">
                  <a:latin typeface="Yuanti SC Regular" panose="02010600040101010101" charset="-122"/>
                  <a:ea typeface="Yuanti SC Regular" panose="02010600040101010101" charset="-122"/>
                  <a:cs typeface="Yuanti SC Regular" panose="02010600040101010101" charset="-122"/>
                </a:endParaRPr>
              </a:p>
              <a:p>
                <a:r>
                  <a:rPr lang="zh-CN" altLang="en-US">
                    <a:latin typeface="Yuanti SC Regular" panose="02010600040101010101" charset="-122"/>
                    <a:ea typeface="Yuanti SC Regular" panose="02010600040101010101" charset="-122"/>
                    <a:cs typeface="Yuanti SC Regular" panose="02010600040101010101" charset="-122"/>
                  </a:rPr>
                  <a:t>反之，是无效值权重则为</a:t>
                </a:r>
                <a:r>
                  <a:rPr lang="en-US" altLang="zh-CN">
                    <a:latin typeface="Yuanti SC Regular" panose="02010600040101010101" charset="-122"/>
                    <a:ea typeface="Yuanti SC Regular" panose="02010600040101010101" charset="-122"/>
                    <a:cs typeface="Yuanti SC Regular" panose="02010600040101010101" charset="-122"/>
                  </a:rPr>
                  <a:t>0</a:t>
                </a:r>
                <a:endParaRPr lang="en-US" altLang="zh-CN">
                  <a:latin typeface="Yuanti SC Regular" panose="02010600040101010101" charset="-122"/>
                  <a:ea typeface="Yuanti SC Regular" panose="02010600040101010101" charset="-122"/>
                  <a:cs typeface="Yuanti SC Regular" panose="02010600040101010101" charset="-122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8445" y="2418080"/>
                <a:ext cx="3049905" cy="177927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 </a:t>
                </a:r>
              </a:p>
            </p:txBody>
          </p:sp>
        </mc:Fallback>
      </mc:AlternateContent>
    </p:spTree>
  </p:cSld>
  <p:clrMapOvr>
    <a:masterClrMapping/>
  </p:clrMapOvr>
  <p:transition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4" name="标题 3"/>
          <p:cNvSpPr/>
          <p:nvPr>
            <p:ph type="title"/>
          </p:nvPr>
        </p:nvSpPr>
        <p:spPr>
          <a:xfrm>
            <a:off x="629285" y="345440"/>
            <a:ext cx="7571740" cy="702945"/>
          </a:xfrm>
        </p:spPr>
        <p:txBody>
          <a:bodyPr/>
          <a:p>
            <a:r>
              <a:rPr lang="zh-CN" altLang="en-US" sz="24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通用</a:t>
            </a:r>
            <a:r>
              <a:rPr lang="en-US" altLang="zh-CN" sz="24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HDR</a:t>
            </a:r>
            <a:r>
              <a:rPr lang="zh-CN" altLang="en-US" sz="24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生成过程</a:t>
            </a:r>
            <a:endParaRPr lang="zh-CN" altLang="en-US" sz="2400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</p:txBody>
      </p:sp>
      <p:sp>
        <p:nvSpPr>
          <p:cNvPr id="3" name="标题 2"/>
          <p:cNvSpPr/>
          <p:nvPr/>
        </p:nvSpPr>
        <p:spPr>
          <a:xfrm>
            <a:off x="5639435" y="2696845"/>
            <a:ext cx="2561590" cy="122618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 lang="zh-CN" altLang="en-US">
              <a:solidFill>
                <a:schemeClr val="bg2">
                  <a:lumMod val="75000"/>
                </a:schemeClr>
              </a:solidFill>
              <a:latin typeface="Yuanti SC Regular" panose="02010600040101010101" charset="-122"/>
              <a:ea typeface="Yuanti SC Regular" panose="0201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734945" y="1306830"/>
            <a:ext cx="4848860" cy="798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如果我们用这三张图来生成一张</a:t>
            </a:r>
            <a:r>
              <a:rPr lang="en-US" altLang="zh-CN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HDR</a:t>
            </a:r>
            <a:r>
              <a:rPr lang="zh-CN" altLang="en-US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图片，那么对于最终</a:t>
            </a:r>
            <a:r>
              <a:rPr lang="en-US" altLang="zh-CN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(x,y)</a:t>
            </a:r>
            <a:r>
              <a:rPr lang="zh-CN" altLang="en-US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位置的像素值，我们可以如下计算得到：</a:t>
            </a:r>
            <a:endParaRPr lang="zh-CN" altLang="en-US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  <a:p>
            <a:endParaRPr lang="en-US" altLang="zh-CN" sz="1800" i="1">
              <a:latin typeface="Cambria Math" charset="0"/>
              <a:ea typeface="宋体" charset="0"/>
              <a:cs typeface="Cambria Math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r="74939"/>
          <a:stretch>
            <a:fillRect/>
          </a:stretch>
        </p:blipFill>
        <p:spPr>
          <a:xfrm>
            <a:off x="629285" y="1048385"/>
            <a:ext cx="1855470" cy="370141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828040" y="1275080"/>
            <a:ext cx="75565" cy="75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24230" y="2524125"/>
            <a:ext cx="75565" cy="75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28040" y="3773170"/>
            <a:ext cx="75565" cy="75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rcRect t="21456" b="12670"/>
          <a:stretch>
            <a:fillRect/>
          </a:stretch>
        </p:blipFill>
        <p:spPr>
          <a:xfrm>
            <a:off x="2803525" y="1923415"/>
            <a:ext cx="5397500" cy="861695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6776085" y="1958340"/>
            <a:ext cx="257175" cy="737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466080" y="2922905"/>
            <a:ext cx="3102610" cy="1599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K</a:t>
            </a:r>
            <a:r>
              <a:rPr lang="zh-CN" altLang="en-US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值是根据曝光度计算的，如果每一张图片</a:t>
            </a:r>
            <a:endParaRPr lang="zh-CN" altLang="en-US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  <a:p>
            <a:r>
              <a:rPr lang="zh-CN" altLang="en-US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的快门速度不同，那么</a:t>
            </a:r>
            <a:r>
              <a:rPr lang="en-US" altLang="zh-CN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k</a:t>
            </a:r>
            <a:r>
              <a:rPr lang="zh-CN" altLang="en-US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值就不同，例如：</a:t>
            </a:r>
            <a:endParaRPr lang="zh-CN" altLang="en-US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  <a:p>
            <a:r>
              <a:rPr lang="zh-CN" altLang="en-US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第一张曝光为</a:t>
            </a:r>
            <a:r>
              <a:rPr lang="en-US" altLang="zh-CN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1/30s </a:t>
            </a:r>
            <a:r>
              <a:rPr lang="zh-CN" altLang="en-US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第二张为</a:t>
            </a:r>
            <a:r>
              <a:rPr lang="en-US" altLang="zh-CN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1/60s </a:t>
            </a:r>
            <a:r>
              <a:rPr lang="zh-CN" altLang="en-US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第三张为</a:t>
            </a:r>
            <a:r>
              <a:rPr lang="en-US" altLang="zh-CN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1/120s</a:t>
            </a:r>
            <a:endParaRPr lang="en-US" altLang="zh-CN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  <a:p>
            <a:r>
              <a:rPr lang="zh-CN" altLang="en-US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那么</a:t>
            </a:r>
            <a:r>
              <a:rPr lang="en-US" altLang="zh-CN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k</a:t>
            </a:r>
            <a:r>
              <a:rPr lang="zh-CN" altLang="en-US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值分别为：</a:t>
            </a:r>
            <a:r>
              <a:rPr lang="en-US" altLang="zh-CN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1 </a:t>
            </a:r>
            <a:r>
              <a:rPr lang="zh-CN" altLang="en-US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、</a:t>
            </a:r>
            <a:r>
              <a:rPr lang="en-US" altLang="zh-CN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1/2</a:t>
            </a:r>
            <a:r>
              <a:rPr lang="zh-CN" altLang="en-US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、</a:t>
            </a:r>
            <a:r>
              <a:rPr lang="en-US" altLang="zh-CN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1/4</a:t>
            </a:r>
            <a:endParaRPr lang="en-US" altLang="zh-CN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</p:txBody>
      </p:sp>
    </p:spTree>
  </p:cSld>
  <p:clrMapOvr>
    <a:masterClrMapping/>
  </p:clrMapOvr>
  <p:transition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/>
          <p:nvPr/>
        </p:nvSpPr>
        <p:spPr>
          <a:xfrm>
            <a:off x="5725650" y="909615"/>
            <a:ext cx="1875600" cy="1852800"/>
          </a:xfrm>
          <a:prstGeom prst="ellipse">
            <a:avLst/>
          </a:prstGeom>
          <a:noFill/>
          <a:ln w="9525" cap="flat" cmpd="sng">
            <a:solidFill>
              <a:srgbClr val="CFD8DC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18"/>
          <p:cNvSpPr txBox="1"/>
          <p:nvPr>
            <p:ph type="ctrTitle" idx="4294967295"/>
          </p:nvPr>
        </p:nvSpPr>
        <p:spPr>
          <a:xfrm>
            <a:off x="248285" y="1252220"/>
            <a:ext cx="5064760" cy="115951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8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步骤二：色调映射</a:t>
            </a:r>
            <a:endParaRPr lang="zh-CN" altLang="en-US" sz="4800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</p:txBody>
      </p:sp>
      <p:sp>
        <p:nvSpPr>
          <p:cNvPr id="119" name="Google Shape;119;p18"/>
          <p:cNvSpPr txBox="1"/>
          <p:nvPr>
            <p:ph type="subTitle" idx="4294967295"/>
          </p:nvPr>
        </p:nvSpPr>
        <p:spPr>
          <a:xfrm>
            <a:off x="533400" y="2394538"/>
            <a:ext cx="47796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zh-CN" altLang="en-US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使得显示设备能够正确显示</a:t>
            </a:r>
            <a:endParaRPr lang="zh-CN" altLang="en-US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</p:txBody>
      </p:sp>
      <p:cxnSp>
        <p:nvCxnSpPr>
          <p:cNvPr id="120" name="Google Shape;120;p18"/>
          <p:cNvCxnSpPr/>
          <p:nvPr/>
        </p:nvCxnSpPr>
        <p:spPr>
          <a:xfrm rot="10800000" flipH="1">
            <a:off x="6805299" y="540952"/>
            <a:ext cx="143700" cy="3771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" name="Google Shape;121;p18"/>
          <p:cNvCxnSpPr/>
          <p:nvPr/>
        </p:nvCxnSpPr>
        <p:spPr>
          <a:xfrm flipH="1">
            <a:off x="7451750" y="1182125"/>
            <a:ext cx="337200" cy="1311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" name="Google Shape;122;p18"/>
          <p:cNvCxnSpPr>
            <a:endCxn id="117" idx="6"/>
          </p:cNvCxnSpPr>
          <p:nvPr/>
        </p:nvCxnSpPr>
        <p:spPr>
          <a:xfrm rot="10800000">
            <a:off x="7601250" y="1836015"/>
            <a:ext cx="998100" cy="981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3" name="Google Shape;123;p18"/>
          <p:cNvSpPr/>
          <p:nvPr/>
        </p:nvSpPr>
        <p:spPr>
          <a:xfrm>
            <a:off x="5875408" y="1057537"/>
            <a:ext cx="1576200" cy="1556700"/>
          </a:xfrm>
          <a:prstGeom prst="ellipse">
            <a:avLst/>
          </a:prstGeom>
          <a:noFill/>
          <a:ln w="19050" cap="flat" cmpd="sng">
            <a:solidFill>
              <a:srgbClr val="CFD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7" name="Google Shape;127;p18"/>
          <p:cNvSpPr txBox="1"/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" name="Google Shape;118;p18"/>
          <p:cNvSpPr txBox="1"/>
          <p:nvPr/>
        </p:nvSpPr>
        <p:spPr>
          <a:xfrm>
            <a:off x="5875655" y="1235075"/>
            <a:ext cx="1235075" cy="115951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02</a:t>
            </a:r>
            <a:endParaRPr lang="en-US" sz="6000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</p:txBody>
      </p:sp>
    </p:spTree>
  </p:cSld>
  <p:clrMapOvr>
    <a:masterClrMapping/>
  </p:clrMapOvr>
  <p:transition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4" name="标题 3"/>
          <p:cNvSpPr/>
          <p:nvPr>
            <p:ph type="title"/>
          </p:nvPr>
        </p:nvSpPr>
        <p:spPr>
          <a:xfrm>
            <a:off x="629285" y="345440"/>
            <a:ext cx="7571740" cy="702945"/>
          </a:xfrm>
        </p:spPr>
        <p:txBody>
          <a:bodyPr/>
          <a:p>
            <a:r>
              <a:rPr lang="zh-CN" altLang="en-US" sz="24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色调映射</a:t>
            </a:r>
            <a:r>
              <a:rPr lang="en-US" altLang="zh-CN" sz="24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(Tonemapping)</a:t>
            </a:r>
            <a:r>
              <a:rPr lang="zh-CN" altLang="en-US" sz="24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的目的</a:t>
            </a:r>
            <a:endParaRPr lang="zh-CN" altLang="en-US" sz="2400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</p:txBody>
      </p:sp>
      <p:sp>
        <p:nvSpPr>
          <p:cNvPr id="3" name="标题 2"/>
          <p:cNvSpPr/>
          <p:nvPr/>
        </p:nvSpPr>
        <p:spPr>
          <a:xfrm>
            <a:off x="5639435" y="2696845"/>
            <a:ext cx="2561590" cy="122618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 lang="zh-CN" altLang="en-US">
              <a:solidFill>
                <a:schemeClr val="bg2">
                  <a:lumMod val="75000"/>
                </a:schemeClr>
              </a:solidFill>
              <a:latin typeface="Yuanti SC Regular" panose="02010600040101010101" charset="-122"/>
              <a:ea typeface="Yuanti SC Regular" panose="02010600040101010101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29285" y="1248410"/>
            <a:ext cx="728281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技术上来说：</a:t>
            </a:r>
            <a:endParaRPr lang="zh-CN" altLang="en-US" sz="1600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  <a:p>
            <a:r>
              <a:rPr lang="zh-CN" altLang="en-US" sz="16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在一个小空间内拟合大范围的值且尽可能保留值之间的差异</a:t>
            </a:r>
            <a:endParaRPr lang="zh-CN" altLang="en-US" sz="1600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  <a:p>
            <a:endParaRPr lang="zh-CN" altLang="en-US" sz="1600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  <a:p>
            <a:r>
              <a:rPr lang="zh-CN" altLang="en-US" sz="16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艺术上来说：</a:t>
            </a:r>
            <a:endParaRPr lang="zh-CN" altLang="en-US" sz="1600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  <a:p>
            <a:r>
              <a:rPr lang="zh-CN" altLang="en-US" sz="16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再现摄影师/艺术家的所见所闻</a:t>
            </a:r>
            <a:endParaRPr lang="zh-CN" altLang="en-US" sz="1600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  <a:p>
            <a:r>
              <a:rPr lang="zh-CN" altLang="en-US" sz="16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风格化照片</a:t>
            </a:r>
            <a:endParaRPr lang="zh-CN" altLang="en-US" sz="1600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l="4723" t="27235" r="3900" b="4730"/>
          <a:stretch>
            <a:fillRect/>
          </a:stretch>
        </p:blipFill>
        <p:spPr>
          <a:xfrm>
            <a:off x="865505" y="3460115"/>
            <a:ext cx="2454910" cy="124206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300" y="2337435"/>
            <a:ext cx="3989070" cy="241236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395095" y="3016885"/>
            <a:ext cx="12401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chemeClr val="accent1"/>
                </a:solidFill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Input HDR</a:t>
            </a:r>
            <a:endParaRPr lang="en-US" altLang="zh-CN" sz="1600">
              <a:solidFill>
                <a:schemeClr val="accent1"/>
              </a:solidFill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911850" y="1864360"/>
            <a:ext cx="17907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chemeClr val="accent1"/>
                </a:solidFill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Output Result</a:t>
            </a:r>
            <a:endParaRPr lang="en-US" altLang="zh-CN" sz="1600">
              <a:solidFill>
                <a:schemeClr val="accent1"/>
              </a:solidFill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</p:txBody>
      </p:sp>
      <p:sp>
        <p:nvSpPr>
          <p:cNvPr id="18" name="右箭头 17"/>
          <p:cNvSpPr/>
          <p:nvPr/>
        </p:nvSpPr>
        <p:spPr>
          <a:xfrm>
            <a:off x="3515360" y="3848100"/>
            <a:ext cx="935990" cy="2882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515360" y="3460115"/>
            <a:ext cx="12401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accent1"/>
                </a:solidFill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色调映射</a:t>
            </a:r>
            <a:endParaRPr lang="zh-CN" altLang="en-US" sz="1600">
              <a:solidFill>
                <a:schemeClr val="accent1"/>
              </a:solidFill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</p:txBody>
      </p:sp>
    </p:spTree>
  </p:cSld>
  <p:clrMapOvr>
    <a:masterClrMapping/>
  </p:clrMapOvr>
  <p:transition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4" name="标题 3"/>
          <p:cNvSpPr/>
          <p:nvPr>
            <p:ph type="title"/>
          </p:nvPr>
        </p:nvSpPr>
        <p:spPr>
          <a:xfrm>
            <a:off x="629285" y="345440"/>
            <a:ext cx="7571740" cy="702945"/>
          </a:xfrm>
        </p:spPr>
        <p:txBody>
          <a:bodyPr/>
          <a:p>
            <a:r>
              <a:rPr lang="zh-CN" altLang="en-US" sz="24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简单方案</a:t>
            </a:r>
            <a:endParaRPr lang="zh-CN" altLang="en-US" sz="2400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</p:txBody>
      </p:sp>
      <p:sp>
        <p:nvSpPr>
          <p:cNvPr id="3" name="标题 2"/>
          <p:cNvSpPr/>
          <p:nvPr/>
        </p:nvSpPr>
        <p:spPr>
          <a:xfrm>
            <a:off x="5639435" y="2696845"/>
            <a:ext cx="2561590" cy="122618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 lang="zh-CN" altLang="en-US">
              <a:solidFill>
                <a:schemeClr val="bg2">
                  <a:lumMod val="75000"/>
                </a:schemeClr>
              </a:solidFill>
              <a:latin typeface="Yuanti SC Regular" panose="02010600040101010101" charset="-122"/>
              <a:ea typeface="Yuanti SC Regular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8630" y="1394460"/>
            <a:ext cx="6664960" cy="34251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73430" y="1057275"/>
            <a:ext cx="72828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去掉低频信息，保留高频信息；低频图采用高斯模糊获取</a:t>
            </a:r>
            <a:endParaRPr lang="zh-CN" altLang="en-US" sz="1600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rcRect r="53445"/>
          <a:stretch>
            <a:fillRect/>
          </a:stretch>
        </p:blipFill>
        <p:spPr>
          <a:xfrm>
            <a:off x="311785" y="2066290"/>
            <a:ext cx="1426845" cy="101028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90" y="3076575"/>
            <a:ext cx="1168400" cy="539115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4" name="标题 3"/>
          <p:cNvSpPr/>
          <p:nvPr>
            <p:ph type="title"/>
          </p:nvPr>
        </p:nvSpPr>
        <p:spPr>
          <a:xfrm>
            <a:off x="629285" y="345440"/>
            <a:ext cx="7571740" cy="702945"/>
          </a:xfrm>
        </p:spPr>
        <p:txBody>
          <a:bodyPr/>
          <a:p>
            <a:r>
              <a:rPr lang="zh-CN" altLang="en-US" sz="24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进阶方案</a:t>
            </a:r>
            <a:endParaRPr lang="zh-CN" altLang="en-US" sz="2400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</p:txBody>
      </p:sp>
      <p:sp>
        <p:nvSpPr>
          <p:cNvPr id="3" name="标题 2"/>
          <p:cNvSpPr/>
          <p:nvPr/>
        </p:nvSpPr>
        <p:spPr>
          <a:xfrm>
            <a:off x="5639435" y="2696845"/>
            <a:ext cx="2561590" cy="122618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 lang="zh-CN" altLang="en-US">
              <a:solidFill>
                <a:schemeClr val="bg2">
                  <a:lumMod val="75000"/>
                </a:schemeClr>
              </a:solidFill>
              <a:latin typeface="Yuanti SC Regular" panose="02010600040101010101" charset="-122"/>
              <a:ea typeface="Yuanti SC Regular" panose="0201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505" y="1381760"/>
            <a:ext cx="6528435" cy="336804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73430" y="1057275"/>
            <a:ext cx="72828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对于边缘，降低模糊，使用双向滤波获取低频图</a:t>
            </a:r>
            <a:endParaRPr lang="zh-CN" altLang="en-US" sz="1600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</p:txBody>
      </p:sp>
    </p:spTree>
  </p:cSld>
  <p:clrMapOvr>
    <a:masterClrMapping/>
  </p:clrMapOvr>
  <p:transition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4" name="标题 3"/>
          <p:cNvSpPr/>
          <p:nvPr>
            <p:ph type="title"/>
          </p:nvPr>
        </p:nvSpPr>
        <p:spPr>
          <a:xfrm>
            <a:off x="629285" y="345440"/>
            <a:ext cx="7571740" cy="702945"/>
          </a:xfrm>
        </p:spPr>
        <p:txBody>
          <a:bodyPr/>
          <a:p>
            <a:r>
              <a:rPr lang="zh-CN" altLang="en-US" sz="24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高斯模糊 </a:t>
            </a:r>
            <a:r>
              <a:rPr lang="en-US" altLang="zh-CN" sz="24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vs </a:t>
            </a:r>
            <a:r>
              <a:rPr lang="zh-CN" altLang="en-US" sz="24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双向滤波模糊</a:t>
            </a:r>
            <a:endParaRPr lang="zh-CN" altLang="en-US" sz="2400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</p:txBody>
      </p:sp>
      <p:sp>
        <p:nvSpPr>
          <p:cNvPr id="3" name="标题 2"/>
          <p:cNvSpPr/>
          <p:nvPr/>
        </p:nvSpPr>
        <p:spPr>
          <a:xfrm>
            <a:off x="5639435" y="2696845"/>
            <a:ext cx="2561590" cy="122618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 lang="zh-CN" altLang="en-US">
              <a:solidFill>
                <a:schemeClr val="bg2">
                  <a:lumMod val="75000"/>
                </a:schemeClr>
              </a:solidFill>
              <a:latin typeface="Yuanti SC Regular" panose="02010600040101010101" charset="-122"/>
              <a:ea typeface="Yuanti SC Regular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175" y="1048385"/>
            <a:ext cx="4605655" cy="38633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155055" y="2231390"/>
            <a:ext cx="204597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横向对比可以发现，双向滤波</a:t>
            </a:r>
            <a:r>
              <a:rPr lang="en-US" altLang="zh-CN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(bilateral filtering) </a:t>
            </a:r>
            <a:r>
              <a:rPr lang="zh-CN" altLang="en-US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比高斯模糊（</a:t>
            </a:r>
            <a:r>
              <a:rPr lang="en-US" altLang="zh-CN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Gaussian Blur)</a:t>
            </a:r>
            <a:r>
              <a:rPr lang="zh-CN" altLang="en-US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更能保留边缘的信息</a:t>
            </a:r>
            <a:endParaRPr lang="zh-CN" altLang="en-US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</p:txBody>
      </p:sp>
    </p:spTree>
  </p:cSld>
  <p:clrMapOvr>
    <a:masterClrMapping/>
  </p:clrMapOvr>
  <p:transition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/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副标题 3"/>
          <p:cNvSpPr/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idx="4294967295"/>
          </p:nvPr>
        </p:nvSpPr>
        <p:spPr>
          <a:xfrm>
            <a:off x="8595360" y="4749800"/>
            <a:ext cx="548640" cy="393700"/>
          </a:xfrm>
        </p:spPr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395" y="1080135"/>
            <a:ext cx="6737985" cy="3801110"/>
          </a:xfrm>
          <a:prstGeom prst="rect">
            <a:avLst/>
          </a:prstGeom>
        </p:spPr>
      </p:pic>
      <p:sp>
        <p:nvSpPr>
          <p:cNvPr id="7" name="标题 3"/>
          <p:cNvSpPr/>
          <p:nvPr/>
        </p:nvSpPr>
        <p:spPr>
          <a:xfrm>
            <a:off x="629285" y="345440"/>
            <a:ext cx="7571740" cy="70294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zh-CN" altLang="en-US" sz="24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双向滤波原理</a:t>
            </a:r>
            <a:endParaRPr lang="zh-CN" altLang="en-US" sz="2400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</p:txBody>
      </p:sp>
    </p:spTree>
  </p:cSld>
  <p:clrMapOvr>
    <a:masterClrMapping/>
  </p:clrMapOvr>
  <p:transition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idx="4294967295"/>
          </p:nvPr>
        </p:nvSpPr>
        <p:spPr>
          <a:xfrm>
            <a:off x="8595360" y="4749800"/>
            <a:ext cx="548640" cy="393700"/>
          </a:xfrm>
        </p:spPr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7" name="标题 3"/>
          <p:cNvSpPr/>
          <p:nvPr/>
        </p:nvSpPr>
        <p:spPr>
          <a:xfrm>
            <a:off x="629285" y="345440"/>
            <a:ext cx="7571740" cy="70294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zh-CN" altLang="en-US" sz="24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使用</a:t>
            </a:r>
            <a:r>
              <a:rPr lang="en-US" altLang="zh-CN" sz="24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Log</a:t>
            </a:r>
            <a:r>
              <a:rPr lang="zh-CN" altLang="en-US" sz="24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域</a:t>
            </a:r>
            <a:endParaRPr lang="zh-CN" altLang="en-US" sz="2400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26770" y="3642995"/>
            <a:ext cx="334899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很重要的一点就是我们的计算是需要在</a:t>
            </a:r>
            <a:r>
              <a:rPr lang="en-US" altLang="zh-CN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log</a:t>
            </a:r>
            <a:r>
              <a:rPr lang="zh-CN" altLang="en-US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域的</a:t>
            </a:r>
            <a:endParaRPr lang="zh-CN" altLang="en-US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  <a:p>
            <a:r>
              <a:rPr lang="zh-CN" altLang="en-US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原因是因为我们人眼对局部对比更敏感</a:t>
            </a:r>
            <a:endParaRPr lang="zh-CN" altLang="en-US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  <a:p>
            <a:endParaRPr lang="zh-CN" altLang="en-US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0985" y="606425"/>
            <a:ext cx="2084705" cy="181991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80" y="1092200"/>
            <a:ext cx="4053205" cy="250698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445" y="133985"/>
            <a:ext cx="1153160" cy="94361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5760" y="2486025"/>
            <a:ext cx="2849245" cy="256159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293995" y="299720"/>
            <a:ext cx="33489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自然界线性灰度</a:t>
            </a:r>
            <a:endParaRPr lang="zh-CN" altLang="en-US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</p:txBody>
      </p:sp>
    </p:spTree>
  </p:cSld>
  <p:clrMapOvr>
    <a:masterClrMapping/>
  </p:clrMapOvr>
  <p:transition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idx="4294967295"/>
          </p:nvPr>
        </p:nvSpPr>
        <p:spPr>
          <a:xfrm>
            <a:off x="8595360" y="4749800"/>
            <a:ext cx="548640" cy="393700"/>
          </a:xfrm>
        </p:spPr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7" name="标题 3"/>
          <p:cNvSpPr/>
          <p:nvPr/>
        </p:nvSpPr>
        <p:spPr>
          <a:xfrm>
            <a:off x="641350" y="351790"/>
            <a:ext cx="7559675" cy="69659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zh-CN" altLang="en-US" sz="24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使用</a:t>
            </a:r>
            <a:r>
              <a:rPr lang="en-US" altLang="zh-CN" sz="24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Log</a:t>
            </a:r>
            <a:r>
              <a:rPr lang="zh-CN" altLang="en-US" sz="24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域</a:t>
            </a:r>
            <a:endParaRPr lang="zh-CN" altLang="en-US" sz="2400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6615" y="961390"/>
            <a:ext cx="4750435" cy="245046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r="13639"/>
          <a:stretch>
            <a:fillRect/>
          </a:stretch>
        </p:blipFill>
        <p:spPr>
          <a:xfrm>
            <a:off x="536575" y="1223010"/>
            <a:ext cx="2800985" cy="1746885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/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副标题 3"/>
          <p:cNvSpPr/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idx="4294967295"/>
          </p:nvPr>
        </p:nvSpPr>
        <p:spPr>
          <a:xfrm>
            <a:off x="8595360" y="4749800"/>
            <a:ext cx="548640" cy="393700"/>
          </a:xfrm>
        </p:spPr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290" y="975995"/>
            <a:ext cx="6141720" cy="3889375"/>
          </a:xfrm>
          <a:prstGeom prst="rect">
            <a:avLst/>
          </a:prstGeom>
        </p:spPr>
      </p:pic>
      <p:sp>
        <p:nvSpPr>
          <p:cNvPr id="7" name="标题 3"/>
          <p:cNvSpPr/>
          <p:nvPr/>
        </p:nvSpPr>
        <p:spPr>
          <a:xfrm>
            <a:off x="641350" y="351790"/>
            <a:ext cx="7559675" cy="69659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zh-CN" altLang="en-US" sz="24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色调映射整体流程</a:t>
            </a:r>
            <a:endParaRPr lang="zh-CN" altLang="en-US" sz="2400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</p:txBody>
      </p:sp>
    </p:spTree>
  </p:cSld>
  <p:clrMapOvr>
    <a:masterClrMapping/>
  </p:clrMapOvr>
  <p:transition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idx="4294967295"/>
          </p:nvPr>
        </p:nvSpPr>
        <p:spPr>
          <a:xfrm>
            <a:off x="8595360" y="4749800"/>
            <a:ext cx="548640" cy="393700"/>
          </a:xfrm>
        </p:spPr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8" name="文本框 7"/>
          <p:cNvSpPr txBox="1"/>
          <p:nvPr/>
        </p:nvSpPr>
        <p:spPr>
          <a:xfrm>
            <a:off x="962025" y="1048385"/>
            <a:ext cx="756031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HDRI（High-DynamicRange Image）就是记录采用了HDR技术的图象数据文件。常用的HDRI文件有OpenEXR、RadianceRGBE、FloatTIFF三种格式。 </a:t>
            </a:r>
            <a:endParaRPr lang="zh-CN" altLang="en-US"/>
          </a:p>
          <a:p>
            <a:r>
              <a:rPr lang="zh-CN" altLang="en-US"/>
              <a:t>来源：http://www.anyhere.com/gward/hdrenc/hdr_encodings.html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080" y="1907540"/>
            <a:ext cx="3550285" cy="277876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720" y="1798320"/>
            <a:ext cx="3423920" cy="2997835"/>
          </a:xfrm>
          <a:prstGeom prst="rect">
            <a:avLst/>
          </a:prstGeom>
        </p:spPr>
      </p:pic>
      <p:sp>
        <p:nvSpPr>
          <p:cNvPr id="11" name="标题 3"/>
          <p:cNvSpPr/>
          <p:nvPr/>
        </p:nvSpPr>
        <p:spPr>
          <a:xfrm>
            <a:off x="629285" y="345440"/>
            <a:ext cx="7571740" cy="70294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24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HDR</a:t>
            </a:r>
            <a:r>
              <a:rPr lang="zh-CN" altLang="en-US" sz="24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格式种类</a:t>
            </a:r>
            <a:endParaRPr lang="zh-CN" altLang="en-US" sz="2400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</p:txBody>
      </p:sp>
    </p:spTree>
  </p:cSld>
  <p:clrMapOvr>
    <a:masterClrMapping/>
  </p:clrMapOvr>
  <p:transition>
    <p:fade thruBlk="1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/>
          <p:nvPr/>
        </p:nvSpPr>
        <p:spPr>
          <a:xfrm>
            <a:off x="5880381" y="2562025"/>
            <a:ext cx="1381800" cy="1365600"/>
          </a:xfrm>
          <a:prstGeom prst="ellipse">
            <a:avLst/>
          </a:prstGeom>
          <a:noFill/>
          <a:ln w="9525" cap="flat" cmpd="sng">
            <a:solidFill>
              <a:srgbClr val="CFD8DC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4"/>
          <p:cNvSpPr txBox="1"/>
          <p:nvPr>
            <p:ph type="ctrTitle" idx="4294967295"/>
          </p:nvPr>
        </p:nvSpPr>
        <p:spPr>
          <a:xfrm>
            <a:off x="1620355" y="1228379"/>
            <a:ext cx="56421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GB" sz="6000">
                <a:latin typeface="Yuanti SC Regular" panose="02010600040101010101" charset="-122"/>
                <a:ea typeface="Yuanti SC Regular" panose="02010600040101010101" charset="-122"/>
              </a:rPr>
              <a:t>谢谢聆听！</a:t>
            </a:r>
            <a:endParaRPr lang="zh-CN" altLang="en-GB" sz="6000">
              <a:latin typeface="Yuanti SC Regular" panose="02010600040101010101" charset="-122"/>
              <a:ea typeface="Yuanti SC Regular" panose="02010600040101010101" charset="-122"/>
            </a:endParaRPr>
          </a:p>
        </p:txBody>
      </p:sp>
      <p:sp>
        <p:nvSpPr>
          <p:cNvPr id="87" name="Google Shape;87;p14"/>
          <p:cNvSpPr txBox="1"/>
          <p:nvPr>
            <p:ph type="body" idx="4294967295"/>
          </p:nvPr>
        </p:nvSpPr>
        <p:spPr>
          <a:xfrm>
            <a:off x="1637500" y="2388200"/>
            <a:ext cx="4109400" cy="24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zh-CN" altLang="en-GB" sz="2600">
                <a:latin typeface="Yuanti SC Regular" panose="02010600040101010101" charset="-122"/>
                <a:ea typeface="Yuanti SC Regular" panose="02010600040101010101" charset="-122"/>
              </a:rPr>
              <a:t>大家有什么问题吗？</a:t>
            </a:r>
            <a:endParaRPr lang="zh-CN" altLang="en-GB" sz="2600">
              <a:latin typeface="Yuanti SC Regular" panose="02010600040101010101" charset="-122"/>
              <a:ea typeface="Yuanti SC Regular" panose="02010600040101010101" charset="-122"/>
            </a:endParaRPr>
          </a:p>
        </p:txBody>
      </p:sp>
      <p:cxnSp>
        <p:nvCxnSpPr>
          <p:cNvPr id="89" name="Google Shape;89;p14"/>
          <p:cNvCxnSpPr/>
          <p:nvPr/>
        </p:nvCxnSpPr>
        <p:spPr>
          <a:xfrm>
            <a:off x="6694986" y="3933625"/>
            <a:ext cx="214500" cy="8568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" name="Google Shape;90;p14"/>
          <p:cNvCxnSpPr/>
          <p:nvPr/>
        </p:nvCxnSpPr>
        <p:spPr>
          <a:xfrm>
            <a:off x="7059842" y="3727574"/>
            <a:ext cx="394200" cy="5256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" name="Google Shape;91;p14"/>
          <p:cNvCxnSpPr/>
          <p:nvPr/>
        </p:nvCxnSpPr>
        <p:spPr>
          <a:xfrm>
            <a:off x="7224089" y="3501963"/>
            <a:ext cx="752400" cy="4641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" name="Google Shape;92;p14"/>
          <p:cNvSpPr txBox="1"/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 thruBlk="1"/>
  </p:transition>
</p:sld>
</file>

<file path=ppt/tags/tag1.xml><?xml version="1.0" encoding="utf-8"?>
<p:tagLst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Cordelia template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1182</Words>
  <Application>WPS 演示</Application>
  <PresentationFormat/>
  <Paragraphs>175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42" baseType="lpstr">
      <vt:lpstr>Arial</vt:lpstr>
      <vt:lpstr>方正书宋_GBK</vt:lpstr>
      <vt:lpstr>Wingdings</vt:lpstr>
      <vt:lpstr>Arial</vt:lpstr>
      <vt:lpstr>Roboto Slab</vt:lpstr>
      <vt:lpstr>Source Sans Pro</vt:lpstr>
      <vt:lpstr>Yuanti SC</vt:lpstr>
      <vt:lpstr>Yuanti SC Regular</vt:lpstr>
      <vt:lpstr>Cambria Math</vt:lpstr>
      <vt:lpstr>Kingsoft Math</vt:lpstr>
      <vt:lpstr>宋体</vt:lpstr>
      <vt:lpstr>微软雅黑</vt:lpstr>
      <vt:lpstr>汉仪旗黑</vt:lpstr>
      <vt:lpstr>Arial Unicode MS</vt:lpstr>
      <vt:lpstr>汉仪书宋二KW</vt:lpstr>
      <vt:lpstr>Wingdings</vt:lpstr>
      <vt:lpstr>宋体-简</vt:lpstr>
      <vt:lpstr>Cordelia template</vt:lpstr>
      <vt:lpstr>HDR &amp; 色调映射 演讲者：肖智予 </vt:lpstr>
      <vt:lpstr>PowerPoint 演示文稿</vt:lpstr>
      <vt:lpstr>PowerPoint 演示文稿</vt:lpstr>
      <vt:lpstr>如何把这样一样LDR图变成HDR图呢？</vt:lpstr>
      <vt:lpstr>第一个挑战：场景中的亮度变化范围广</vt:lpstr>
      <vt:lpstr>第二个挑战：显示设备上无法完全展现图片的亮度范围</vt:lpstr>
      <vt:lpstr>如何解决？</vt:lpstr>
      <vt:lpstr>步骤一：HDR</vt:lpstr>
      <vt:lpstr>多重曝光摄影</vt:lpstr>
      <vt:lpstr>组合获取HDR图片</vt:lpstr>
      <vt:lpstr>PowerPoint 演示文稿</vt:lpstr>
      <vt:lpstr>通用HDR生成过程</vt:lpstr>
      <vt:lpstr>通用HDR生成过程</vt:lpstr>
      <vt:lpstr>步骤二：色调映射</vt:lpstr>
      <vt:lpstr>色调映射(Tonemapping)的目的</vt:lpstr>
      <vt:lpstr>简单方案</vt:lpstr>
      <vt:lpstr>进阶方案</vt:lpstr>
      <vt:lpstr>高斯模糊 vs 双向滤波模糊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谢谢聆听！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HDR &amp; 色调映射 </dc:title>
  <dc:creator/>
  <cp:lastModifiedBy>bytedance</cp:lastModifiedBy>
  <cp:revision>42</cp:revision>
  <dcterms:created xsi:type="dcterms:W3CDTF">2021-08-02T06:25:51Z</dcterms:created>
  <dcterms:modified xsi:type="dcterms:W3CDTF">2021-08-02T06:25:51Z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2052-3.6.0.5672</vt:lpwstr>
  </property>
</Properties>
</file>